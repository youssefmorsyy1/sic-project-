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2"/>
  </p:notesMasterIdLst>
  <p:sldIdLst>
    <p:sldId id="256" r:id="rId2"/>
    <p:sldId id="262" r:id="rId3"/>
    <p:sldId id="324" r:id="rId4"/>
    <p:sldId id="283" r:id="rId5"/>
    <p:sldId id="277" r:id="rId6"/>
    <p:sldId id="284" r:id="rId7"/>
    <p:sldId id="275" r:id="rId8"/>
    <p:sldId id="328" r:id="rId9"/>
    <p:sldId id="315" r:id="rId10"/>
    <p:sldId id="317" r:id="rId11"/>
    <p:sldId id="329" r:id="rId12"/>
    <p:sldId id="319" r:id="rId13"/>
    <p:sldId id="320" r:id="rId14"/>
    <p:sldId id="321" r:id="rId15"/>
    <p:sldId id="322" r:id="rId16"/>
    <p:sldId id="326" r:id="rId17"/>
    <p:sldId id="327" r:id="rId18"/>
    <p:sldId id="323" r:id="rId19"/>
    <p:sldId id="325" r:id="rId20"/>
    <p:sldId id="279" r:id="rId21"/>
  </p:sldIdLst>
  <p:sldSz cx="18288000" cy="10287000"/>
  <p:notesSz cx="6858000" cy="9144000"/>
  <p:embeddedFontLst>
    <p:embeddedFont>
      <p:font typeface="Malgun Gothic" panose="020B0503020000020004" pitchFamily="34" charset="-127"/>
      <p:regular r:id="rId23"/>
      <p:bold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72F985B-ED66-4FCD-A47C-B17363FE92E7}">
          <p14:sldIdLst>
            <p14:sldId id="256"/>
            <p14:sldId id="262"/>
            <p14:sldId id="324"/>
            <p14:sldId id="283"/>
            <p14:sldId id="277"/>
            <p14:sldId id="284"/>
            <p14:sldId id="275"/>
            <p14:sldId id="328"/>
            <p14:sldId id="315"/>
            <p14:sldId id="317"/>
            <p14:sldId id="329"/>
            <p14:sldId id="319"/>
            <p14:sldId id="320"/>
            <p14:sldId id="321"/>
            <p14:sldId id="322"/>
            <p14:sldId id="326"/>
            <p14:sldId id="327"/>
            <p14:sldId id="323"/>
            <p14:sldId id="325"/>
            <p14:sldId id="27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3E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946" y="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50CFBD-2DEB-440F-9191-7BCF2F1F3C7B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4245B8-2127-40CB-94F2-866A59635F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3151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9" name="Google Shape;2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30" name="Google Shape;30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algun Gothic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fld>
            <a:endParaRPr sz="12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5" name="Google Shape;4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46" name="Google Shape;46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">
          <a:extLst>
            <a:ext uri="{FF2B5EF4-FFF2-40B4-BE49-F238E27FC236}">
              <a16:creationId xmlns:a16="http://schemas.microsoft.com/office/drawing/2014/main" id="{3EBFA3BF-F3D1-B34B-4FF9-52299491F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>
            <a:extLst>
              <a:ext uri="{FF2B5EF4-FFF2-40B4-BE49-F238E27FC236}">
                <a16:creationId xmlns:a16="http://schemas.microsoft.com/office/drawing/2014/main" id="{5C6C9669-3FB9-3989-FE71-AE7438B5C7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6" name="Google Shape;36;p2:notes">
            <a:extLst>
              <a:ext uri="{FF2B5EF4-FFF2-40B4-BE49-F238E27FC236}">
                <a16:creationId xmlns:a16="http://schemas.microsoft.com/office/drawing/2014/main" id="{20A34D84-3BEF-04EC-0037-4268C41AF4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37" name="Google Shape;37;p2:notes">
            <a:extLst>
              <a:ext uri="{FF2B5EF4-FFF2-40B4-BE49-F238E27FC236}">
                <a16:creationId xmlns:a16="http://schemas.microsoft.com/office/drawing/2014/main" id="{1F861AC8-2CD8-D886-868F-331800F6398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006845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5" name="Google Shape;4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46" name="Google Shape;46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035687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6" name="Google Shape;3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37" name="Google Shape;37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5" name="Google Shape;4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46" name="Google Shape;46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80604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6" name="Google Shape;3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37" name="Google Shape;37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370009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">
          <a:extLst>
            <a:ext uri="{FF2B5EF4-FFF2-40B4-BE49-F238E27FC236}">
              <a16:creationId xmlns:a16="http://schemas.microsoft.com/office/drawing/2014/main" id="{DD23FBD4-87F5-4237-BA49-6FEBE52BA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>
            <a:extLst>
              <a:ext uri="{FF2B5EF4-FFF2-40B4-BE49-F238E27FC236}">
                <a16:creationId xmlns:a16="http://schemas.microsoft.com/office/drawing/2014/main" id="{42195A36-365F-DBAE-C772-2B4311841F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6" name="Google Shape;36;p2:notes">
            <a:extLst>
              <a:ext uri="{FF2B5EF4-FFF2-40B4-BE49-F238E27FC236}">
                <a16:creationId xmlns:a16="http://schemas.microsoft.com/office/drawing/2014/main" id="{81AB7A40-AFEA-945F-94F1-CCD2A4E807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37" name="Google Shape;37;p2:notes">
            <a:extLst>
              <a:ext uri="{FF2B5EF4-FFF2-40B4-BE49-F238E27FC236}">
                <a16:creationId xmlns:a16="http://schemas.microsoft.com/office/drawing/2014/main" id="{E606EE60-1D9B-A588-16F8-38E2E381F68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054205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">
          <a:extLst>
            <a:ext uri="{FF2B5EF4-FFF2-40B4-BE49-F238E27FC236}">
              <a16:creationId xmlns:a16="http://schemas.microsoft.com/office/drawing/2014/main" id="{1756ED44-D523-4477-7BD9-473BA17EE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>
            <a:extLst>
              <a:ext uri="{FF2B5EF4-FFF2-40B4-BE49-F238E27FC236}">
                <a16:creationId xmlns:a16="http://schemas.microsoft.com/office/drawing/2014/main" id="{FA83EB42-D984-7049-D7C6-D82CE001B4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6" name="Google Shape;36;p2:notes">
            <a:extLst>
              <a:ext uri="{FF2B5EF4-FFF2-40B4-BE49-F238E27FC236}">
                <a16:creationId xmlns:a16="http://schemas.microsoft.com/office/drawing/2014/main" id="{EF9CF3B3-FB6C-16DA-381D-621B92CD24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37" name="Google Shape;37;p2:notes">
            <a:extLst>
              <a:ext uri="{FF2B5EF4-FFF2-40B4-BE49-F238E27FC236}">
                <a16:creationId xmlns:a16="http://schemas.microsoft.com/office/drawing/2014/main" id="{81CFB12B-6E23-85CB-E178-4E0A7415641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015633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">
          <a:extLst>
            <a:ext uri="{FF2B5EF4-FFF2-40B4-BE49-F238E27FC236}">
              <a16:creationId xmlns:a16="http://schemas.microsoft.com/office/drawing/2014/main" id="{BE8BDEF6-2CE1-06DB-97C6-126E451FD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>
            <a:extLst>
              <a:ext uri="{FF2B5EF4-FFF2-40B4-BE49-F238E27FC236}">
                <a16:creationId xmlns:a16="http://schemas.microsoft.com/office/drawing/2014/main" id="{ED10AAD6-16D8-AACB-E803-2C089029AF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6" name="Google Shape;36;p2:notes">
            <a:extLst>
              <a:ext uri="{FF2B5EF4-FFF2-40B4-BE49-F238E27FC236}">
                <a16:creationId xmlns:a16="http://schemas.microsoft.com/office/drawing/2014/main" id="{4B2CEA16-453C-BC13-3E24-62295338A9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37" name="Google Shape;37;p2:notes">
            <a:extLst>
              <a:ext uri="{FF2B5EF4-FFF2-40B4-BE49-F238E27FC236}">
                <a16:creationId xmlns:a16="http://schemas.microsoft.com/office/drawing/2014/main" id="{6331C6BF-B90F-1307-C9A9-FFBFD7CB4F0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11460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">
          <a:extLst>
            <a:ext uri="{FF2B5EF4-FFF2-40B4-BE49-F238E27FC236}">
              <a16:creationId xmlns:a16="http://schemas.microsoft.com/office/drawing/2014/main" id="{9B9C3305-FF02-DE53-CEEB-29935CD93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>
            <a:extLst>
              <a:ext uri="{FF2B5EF4-FFF2-40B4-BE49-F238E27FC236}">
                <a16:creationId xmlns:a16="http://schemas.microsoft.com/office/drawing/2014/main" id="{C6068F55-F88F-5F11-343D-930FB8B1EA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6" name="Google Shape;36;p2:notes">
            <a:extLst>
              <a:ext uri="{FF2B5EF4-FFF2-40B4-BE49-F238E27FC236}">
                <a16:creationId xmlns:a16="http://schemas.microsoft.com/office/drawing/2014/main" id="{342DD729-BEB1-5EE4-2039-2BF41C554B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37" name="Google Shape;37;p2:notes">
            <a:extLst>
              <a:ext uri="{FF2B5EF4-FFF2-40B4-BE49-F238E27FC236}">
                <a16:creationId xmlns:a16="http://schemas.microsoft.com/office/drawing/2014/main" id="{A6A60BFB-E743-E9DB-9A53-B753ED8D8E7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887377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">
          <a:extLst>
            <a:ext uri="{FF2B5EF4-FFF2-40B4-BE49-F238E27FC236}">
              <a16:creationId xmlns:a16="http://schemas.microsoft.com/office/drawing/2014/main" id="{9971B18B-1C17-BF14-B4D4-C6F19F990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>
            <a:extLst>
              <a:ext uri="{FF2B5EF4-FFF2-40B4-BE49-F238E27FC236}">
                <a16:creationId xmlns:a16="http://schemas.microsoft.com/office/drawing/2014/main" id="{14BAA795-C36E-0C1C-4476-D03FDB256A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6" name="Google Shape;36;p2:notes">
            <a:extLst>
              <a:ext uri="{FF2B5EF4-FFF2-40B4-BE49-F238E27FC236}">
                <a16:creationId xmlns:a16="http://schemas.microsoft.com/office/drawing/2014/main" id="{57BEE176-9C2F-8531-CF07-DE5BD58AAB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37" name="Google Shape;37;p2:notes">
            <a:extLst>
              <a:ext uri="{FF2B5EF4-FFF2-40B4-BE49-F238E27FC236}">
                <a16:creationId xmlns:a16="http://schemas.microsoft.com/office/drawing/2014/main" id="{99D2AF62-667E-3F6D-C528-FB308E35134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905273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">
          <a:extLst>
            <a:ext uri="{FF2B5EF4-FFF2-40B4-BE49-F238E27FC236}">
              <a16:creationId xmlns:a16="http://schemas.microsoft.com/office/drawing/2014/main" id="{F4C3B2F1-3EBE-CBC6-D9EC-0A9F8FCA1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>
            <a:extLst>
              <a:ext uri="{FF2B5EF4-FFF2-40B4-BE49-F238E27FC236}">
                <a16:creationId xmlns:a16="http://schemas.microsoft.com/office/drawing/2014/main" id="{E52DE9DF-9694-8F58-8DD3-074505DA15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6" name="Google Shape;36;p2:notes">
            <a:extLst>
              <a:ext uri="{FF2B5EF4-FFF2-40B4-BE49-F238E27FC236}">
                <a16:creationId xmlns:a16="http://schemas.microsoft.com/office/drawing/2014/main" id="{94451BAF-1CB0-D993-2F7B-7116756E88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37" name="Google Shape;37;p2:notes">
            <a:extLst>
              <a:ext uri="{FF2B5EF4-FFF2-40B4-BE49-F238E27FC236}">
                <a16:creationId xmlns:a16="http://schemas.microsoft.com/office/drawing/2014/main" id="{144EDDF8-4B39-1761-A810-E6359BFB0DF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918007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">
          <a:extLst>
            <a:ext uri="{FF2B5EF4-FFF2-40B4-BE49-F238E27FC236}">
              <a16:creationId xmlns:a16="http://schemas.microsoft.com/office/drawing/2014/main" id="{D1F2F5FD-0BAC-CCB9-980A-2ADC02A61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>
            <a:extLst>
              <a:ext uri="{FF2B5EF4-FFF2-40B4-BE49-F238E27FC236}">
                <a16:creationId xmlns:a16="http://schemas.microsoft.com/office/drawing/2014/main" id="{26E93888-0420-59D6-547F-5C5CCF0BB8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6" name="Google Shape;36;p2:notes">
            <a:extLst>
              <a:ext uri="{FF2B5EF4-FFF2-40B4-BE49-F238E27FC236}">
                <a16:creationId xmlns:a16="http://schemas.microsoft.com/office/drawing/2014/main" id="{AF1C41B7-ED85-E99B-0115-E801E28BC3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37" name="Google Shape;37;p2:notes">
            <a:extLst>
              <a:ext uri="{FF2B5EF4-FFF2-40B4-BE49-F238E27FC236}">
                <a16:creationId xmlns:a16="http://schemas.microsoft.com/office/drawing/2014/main" id="{CBC7579F-343A-168F-28D7-240C0B7C824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254774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">
          <a:extLst>
            <a:ext uri="{FF2B5EF4-FFF2-40B4-BE49-F238E27FC236}">
              <a16:creationId xmlns:a16="http://schemas.microsoft.com/office/drawing/2014/main" id="{35CB1376-2C3D-2B78-BA9D-8A326F0A3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>
            <a:extLst>
              <a:ext uri="{FF2B5EF4-FFF2-40B4-BE49-F238E27FC236}">
                <a16:creationId xmlns:a16="http://schemas.microsoft.com/office/drawing/2014/main" id="{066B91EC-5FAA-9D35-5DC5-54CF92EE11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6" name="Google Shape;36;p2:notes">
            <a:extLst>
              <a:ext uri="{FF2B5EF4-FFF2-40B4-BE49-F238E27FC236}">
                <a16:creationId xmlns:a16="http://schemas.microsoft.com/office/drawing/2014/main" id="{58D47BF2-C1A2-B912-7B5A-10FA2A69AB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37" name="Google Shape;37;p2:notes">
            <a:extLst>
              <a:ext uri="{FF2B5EF4-FFF2-40B4-BE49-F238E27FC236}">
                <a16:creationId xmlns:a16="http://schemas.microsoft.com/office/drawing/2014/main" id="{3D857F24-5339-397E-F2ED-DE688651FA0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900242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">
          <a:extLst>
            <a:ext uri="{FF2B5EF4-FFF2-40B4-BE49-F238E27FC236}">
              <a16:creationId xmlns:a16="http://schemas.microsoft.com/office/drawing/2014/main" id="{F7679BE9-E1D4-1F28-9E80-67E0DCD49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>
            <a:extLst>
              <a:ext uri="{FF2B5EF4-FFF2-40B4-BE49-F238E27FC236}">
                <a16:creationId xmlns:a16="http://schemas.microsoft.com/office/drawing/2014/main" id="{D22C99A2-BAB3-CB8F-A9CC-B9E8BE420D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6" name="Google Shape;36;p2:notes">
            <a:extLst>
              <a:ext uri="{FF2B5EF4-FFF2-40B4-BE49-F238E27FC236}">
                <a16:creationId xmlns:a16="http://schemas.microsoft.com/office/drawing/2014/main" id="{00AE7983-6087-C677-2947-E3442E1E80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37" name="Google Shape;37;p2:notes">
            <a:extLst>
              <a:ext uri="{FF2B5EF4-FFF2-40B4-BE49-F238E27FC236}">
                <a16:creationId xmlns:a16="http://schemas.microsoft.com/office/drawing/2014/main" id="{388EBF89-C976-FE27-A4DB-03E43B51EC2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396233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">
          <a:extLst>
            <a:ext uri="{FF2B5EF4-FFF2-40B4-BE49-F238E27FC236}">
              <a16:creationId xmlns:a16="http://schemas.microsoft.com/office/drawing/2014/main" id="{7BE4E67F-D6D1-A0B4-10E6-1F5525B87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>
            <a:extLst>
              <a:ext uri="{FF2B5EF4-FFF2-40B4-BE49-F238E27FC236}">
                <a16:creationId xmlns:a16="http://schemas.microsoft.com/office/drawing/2014/main" id="{E7FAC737-EF2C-7492-AC2B-52576426AB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6" name="Google Shape;36;p2:notes">
            <a:extLst>
              <a:ext uri="{FF2B5EF4-FFF2-40B4-BE49-F238E27FC236}">
                <a16:creationId xmlns:a16="http://schemas.microsoft.com/office/drawing/2014/main" id="{F2A5BB5F-B461-5B10-3019-328FC80EAF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37" name="Google Shape;37;p2:notes">
            <a:extLst>
              <a:ext uri="{FF2B5EF4-FFF2-40B4-BE49-F238E27FC236}">
                <a16:creationId xmlns:a16="http://schemas.microsoft.com/office/drawing/2014/main" id="{46FE9981-2884-58C8-403E-13A9542930B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8809269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">
          <a:extLst>
            <a:ext uri="{FF2B5EF4-FFF2-40B4-BE49-F238E27FC236}">
              <a16:creationId xmlns:a16="http://schemas.microsoft.com/office/drawing/2014/main" id="{1EA154D7-EDBC-2C56-2ED6-DB803585D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>
            <a:extLst>
              <a:ext uri="{FF2B5EF4-FFF2-40B4-BE49-F238E27FC236}">
                <a16:creationId xmlns:a16="http://schemas.microsoft.com/office/drawing/2014/main" id="{DC50278D-D940-8AEB-0616-A7D6602497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6" name="Google Shape;36;p2:notes">
            <a:extLst>
              <a:ext uri="{FF2B5EF4-FFF2-40B4-BE49-F238E27FC236}">
                <a16:creationId xmlns:a16="http://schemas.microsoft.com/office/drawing/2014/main" id="{E37C79BE-D6C9-0E90-DADC-E586671FE2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37" name="Google Shape;37;p2:notes">
            <a:extLst>
              <a:ext uri="{FF2B5EF4-FFF2-40B4-BE49-F238E27FC236}">
                <a16:creationId xmlns:a16="http://schemas.microsoft.com/office/drawing/2014/main" id="{BD01EEDC-8A54-62D5-1669-B001F3AEE9F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67807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7b6163dee3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0" name="Google Shape;80;g27b6163dee3_0_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g27b6163dee3_0_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m Cover">
  <p:cSld name="Interim Cover">
    <p:bg>
      <p:bgPr>
        <a:solidFill>
          <a:srgbClr val="193EB0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4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643132" y="370513"/>
            <a:ext cx="2952967" cy="786137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44"/>
          <p:cNvSpPr/>
          <p:nvPr/>
        </p:nvSpPr>
        <p:spPr>
          <a:xfrm>
            <a:off x="915806" y="605937"/>
            <a:ext cx="2513353" cy="315288"/>
          </a:xfrm>
          <a:custGeom>
            <a:avLst/>
            <a:gdLst/>
            <a:ahLst/>
            <a:cxnLst/>
            <a:rect l="l" t="t" r="r" b="b"/>
            <a:pathLst>
              <a:path w="2179" h="334" extrusionOk="0">
                <a:moveTo>
                  <a:pt x="83" y="91"/>
                </a:moveTo>
                <a:cubicBezTo>
                  <a:pt x="81" y="84"/>
                  <a:pt x="82" y="78"/>
                  <a:pt x="82" y="74"/>
                </a:cubicBezTo>
                <a:cubicBezTo>
                  <a:pt x="84" y="64"/>
                  <a:pt x="91" y="53"/>
                  <a:pt x="111" y="53"/>
                </a:cubicBezTo>
                <a:cubicBezTo>
                  <a:pt x="129" y="53"/>
                  <a:pt x="140" y="65"/>
                  <a:pt x="140" y="82"/>
                </a:cubicBezTo>
                <a:cubicBezTo>
                  <a:pt x="140" y="101"/>
                  <a:pt x="140" y="101"/>
                  <a:pt x="140" y="101"/>
                </a:cubicBezTo>
                <a:cubicBezTo>
                  <a:pt x="218" y="101"/>
                  <a:pt x="218" y="101"/>
                  <a:pt x="218" y="101"/>
                </a:cubicBezTo>
                <a:cubicBezTo>
                  <a:pt x="218" y="79"/>
                  <a:pt x="218" y="79"/>
                  <a:pt x="218" y="79"/>
                </a:cubicBezTo>
                <a:cubicBezTo>
                  <a:pt x="218" y="11"/>
                  <a:pt x="156" y="0"/>
                  <a:pt x="112" y="0"/>
                </a:cubicBezTo>
                <a:cubicBezTo>
                  <a:pt x="57" y="0"/>
                  <a:pt x="12" y="19"/>
                  <a:pt x="4" y="70"/>
                </a:cubicBezTo>
                <a:cubicBezTo>
                  <a:pt x="1" y="84"/>
                  <a:pt x="1" y="96"/>
                  <a:pt x="4" y="112"/>
                </a:cubicBezTo>
                <a:cubicBezTo>
                  <a:pt x="18" y="175"/>
                  <a:pt x="128" y="194"/>
                  <a:pt x="145" y="234"/>
                </a:cubicBezTo>
                <a:cubicBezTo>
                  <a:pt x="148" y="241"/>
                  <a:pt x="147" y="251"/>
                  <a:pt x="145" y="257"/>
                </a:cubicBezTo>
                <a:cubicBezTo>
                  <a:pt x="143" y="267"/>
                  <a:pt x="136" y="278"/>
                  <a:pt x="115" y="278"/>
                </a:cubicBezTo>
                <a:cubicBezTo>
                  <a:pt x="95" y="278"/>
                  <a:pt x="84" y="267"/>
                  <a:pt x="84" y="250"/>
                </a:cubicBezTo>
                <a:cubicBezTo>
                  <a:pt x="83" y="220"/>
                  <a:pt x="83" y="220"/>
                  <a:pt x="83" y="220"/>
                </a:cubicBezTo>
                <a:cubicBezTo>
                  <a:pt x="0" y="220"/>
                  <a:pt x="0" y="220"/>
                  <a:pt x="0" y="220"/>
                </a:cubicBezTo>
                <a:cubicBezTo>
                  <a:pt x="0" y="244"/>
                  <a:pt x="0" y="244"/>
                  <a:pt x="0" y="244"/>
                </a:cubicBezTo>
                <a:cubicBezTo>
                  <a:pt x="0" y="313"/>
                  <a:pt x="55" y="334"/>
                  <a:pt x="113" y="334"/>
                </a:cubicBezTo>
                <a:cubicBezTo>
                  <a:pt x="169" y="334"/>
                  <a:pt x="216" y="315"/>
                  <a:pt x="223" y="263"/>
                </a:cubicBezTo>
                <a:cubicBezTo>
                  <a:pt x="227" y="236"/>
                  <a:pt x="224" y="218"/>
                  <a:pt x="223" y="212"/>
                </a:cubicBezTo>
                <a:cubicBezTo>
                  <a:pt x="210" y="146"/>
                  <a:pt x="92" y="127"/>
                  <a:pt x="83" y="91"/>
                </a:cubicBezTo>
                <a:moveTo>
                  <a:pt x="1096" y="91"/>
                </a:moveTo>
                <a:cubicBezTo>
                  <a:pt x="1094" y="85"/>
                  <a:pt x="1095" y="79"/>
                  <a:pt x="1096" y="75"/>
                </a:cubicBezTo>
                <a:cubicBezTo>
                  <a:pt x="1098" y="65"/>
                  <a:pt x="1104" y="54"/>
                  <a:pt x="1124" y="54"/>
                </a:cubicBezTo>
                <a:cubicBezTo>
                  <a:pt x="1142" y="54"/>
                  <a:pt x="1152" y="66"/>
                  <a:pt x="1152" y="82"/>
                </a:cubicBezTo>
                <a:cubicBezTo>
                  <a:pt x="1152" y="102"/>
                  <a:pt x="1152" y="102"/>
                  <a:pt x="1152" y="102"/>
                </a:cubicBezTo>
                <a:cubicBezTo>
                  <a:pt x="1229" y="102"/>
                  <a:pt x="1229" y="102"/>
                  <a:pt x="1229" y="102"/>
                </a:cubicBezTo>
                <a:cubicBezTo>
                  <a:pt x="1229" y="80"/>
                  <a:pt x="1229" y="80"/>
                  <a:pt x="1229" y="80"/>
                </a:cubicBezTo>
                <a:cubicBezTo>
                  <a:pt x="1229" y="13"/>
                  <a:pt x="1169" y="2"/>
                  <a:pt x="1125" y="2"/>
                </a:cubicBezTo>
                <a:cubicBezTo>
                  <a:pt x="1070" y="2"/>
                  <a:pt x="1026" y="20"/>
                  <a:pt x="1017" y="71"/>
                </a:cubicBezTo>
                <a:cubicBezTo>
                  <a:pt x="1015" y="84"/>
                  <a:pt x="1015" y="97"/>
                  <a:pt x="1018" y="112"/>
                </a:cubicBezTo>
                <a:cubicBezTo>
                  <a:pt x="1032" y="175"/>
                  <a:pt x="1141" y="193"/>
                  <a:pt x="1157" y="233"/>
                </a:cubicBezTo>
                <a:cubicBezTo>
                  <a:pt x="1160" y="241"/>
                  <a:pt x="1159" y="250"/>
                  <a:pt x="1158" y="256"/>
                </a:cubicBezTo>
                <a:cubicBezTo>
                  <a:pt x="1155" y="267"/>
                  <a:pt x="1148" y="277"/>
                  <a:pt x="1128" y="277"/>
                </a:cubicBezTo>
                <a:cubicBezTo>
                  <a:pt x="1108" y="277"/>
                  <a:pt x="1097" y="266"/>
                  <a:pt x="1097" y="249"/>
                </a:cubicBezTo>
                <a:cubicBezTo>
                  <a:pt x="1097" y="219"/>
                  <a:pt x="1097" y="219"/>
                  <a:pt x="1097" y="219"/>
                </a:cubicBezTo>
                <a:cubicBezTo>
                  <a:pt x="1014" y="219"/>
                  <a:pt x="1014" y="219"/>
                  <a:pt x="1014" y="219"/>
                </a:cubicBezTo>
                <a:cubicBezTo>
                  <a:pt x="1014" y="243"/>
                  <a:pt x="1014" y="243"/>
                  <a:pt x="1014" y="243"/>
                </a:cubicBezTo>
                <a:cubicBezTo>
                  <a:pt x="1014" y="312"/>
                  <a:pt x="1068" y="332"/>
                  <a:pt x="1126" y="332"/>
                </a:cubicBezTo>
                <a:cubicBezTo>
                  <a:pt x="1182" y="332"/>
                  <a:pt x="1228" y="313"/>
                  <a:pt x="1235" y="262"/>
                </a:cubicBezTo>
                <a:cubicBezTo>
                  <a:pt x="1238" y="235"/>
                  <a:pt x="1236" y="218"/>
                  <a:pt x="1234" y="211"/>
                </a:cubicBezTo>
                <a:cubicBezTo>
                  <a:pt x="1221" y="147"/>
                  <a:pt x="1105" y="127"/>
                  <a:pt x="1096" y="91"/>
                </a:cubicBezTo>
                <a:moveTo>
                  <a:pt x="1803" y="261"/>
                </a:moveTo>
                <a:cubicBezTo>
                  <a:pt x="1730" y="10"/>
                  <a:pt x="1730" y="10"/>
                  <a:pt x="1730" y="10"/>
                </a:cubicBezTo>
                <a:cubicBezTo>
                  <a:pt x="1614" y="10"/>
                  <a:pt x="1614" y="10"/>
                  <a:pt x="1614" y="10"/>
                </a:cubicBezTo>
                <a:cubicBezTo>
                  <a:pt x="1614" y="319"/>
                  <a:pt x="1614" y="319"/>
                  <a:pt x="1614" y="319"/>
                </a:cubicBezTo>
                <a:cubicBezTo>
                  <a:pt x="1691" y="319"/>
                  <a:pt x="1691" y="319"/>
                  <a:pt x="1691" y="319"/>
                </a:cubicBezTo>
                <a:cubicBezTo>
                  <a:pt x="1686" y="60"/>
                  <a:pt x="1686" y="60"/>
                  <a:pt x="1686" y="60"/>
                </a:cubicBezTo>
                <a:cubicBezTo>
                  <a:pt x="1765" y="319"/>
                  <a:pt x="1765" y="319"/>
                  <a:pt x="1765" y="319"/>
                </a:cubicBezTo>
                <a:cubicBezTo>
                  <a:pt x="1876" y="319"/>
                  <a:pt x="1876" y="319"/>
                  <a:pt x="1876" y="319"/>
                </a:cubicBezTo>
                <a:cubicBezTo>
                  <a:pt x="1876" y="10"/>
                  <a:pt x="1876" y="10"/>
                  <a:pt x="1876" y="10"/>
                </a:cubicBezTo>
                <a:cubicBezTo>
                  <a:pt x="1799" y="10"/>
                  <a:pt x="1799" y="10"/>
                  <a:pt x="1799" y="10"/>
                </a:cubicBezTo>
                <a:lnTo>
                  <a:pt x="1803" y="261"/>
                </a:lnTo>
                <a:close/>
                <a:moveTo>
                  <a:pt x="333" y="10"/>
                </a:moveTo>
                <a:cubicBezTo>
                  <a:pt x="276" y="322"/>
                  <a:pt x="276" y="322"/>
                  <a:pt x="276" y="322"/>
                </a:cubicBezTo>
                <a:cubicBezTo>
                  <a:pt x="360" y="322"/>
                  <a:pt x="360" y="322"/>
                  <a:pt x="360" y="322"/>
                </a:cubicBezTo>
                <a:cubicBezTo>
                  <a:pt x="403" y="33"/>
                  <a:pt x="403" y="33"/>
                  <a:pt x="403" y="33"/>
                </a:cubicBezTo>
                <a:cubicBezTo>
                  <a:pt x="446" y="322"/>
                  <a:pt x="446" y="322"/>
                  <a:pt x="446" y="322"/>
                </a:cubicBezTo>
                <a:cubicBezTo>
                  <a:pt x="529" y="322"/>
                  <a:pt x="529" y="322"/>
                  <a:pt x="529" y="322"/>
                </a:cubicBezTo>
                <a:cubicBezTo>
                  <a:pt x="472" y="10"/>
                  <a:pt x="472" y="10"/>
                  <a:pt x="472" y="10"/>
                </a:cubicBezTo>
                <a:lnTo>
                  <a:pt x="333" y="10"/>
                </a:lnTo>
                <a:close/>
                <a:moveTo>
                  <a:pt x="804" y="10"/>
                </a:moveTo>
                <a:cubicBezTo>
                  <a:pt x="765" y="254"/>
                  <a:pt x="765" y="254"/>
                  <a:pt x="765" y="254"/>
                </a:cubicBezTo>
                <a:cubicBezTo>
                  <a:pt x="725" y="10"/>
                  <a:pt x="725" y="10"/>
                  <a:pt x="725" y="10"/>
                </a:cubicBezTo>
                <a:cubicBezTo>
                  <a:pt x="598" y="10"/>
                  <a:pt x="598" y="10"/>
                  <a:pt x="598" y="10"/>
                </a:cubicBezTo>
                <a:cubicBezTo>
                  <a:pt x="592" y="322"/>
                  <a:pt x="592" y="322"/>
                  <a:pt x="592" y="322"/>
                </a:cubicBezTo>
                <a:cubicBezTo>
                  <a:pt x="669" y="322"/>
                  <a:pt x="669" y="322"/>
                  <a:pt x="669" y="322"/>
                </a:cubicBezTo>
                <a:cubicBezTo>
                  <a:pt x="671" y="33"/>
                  <a:pt x="671" y="33"/>
                  <a:pt x="671" y="33"/>
                </a:cubicBezTo>
                <a:cubicBezTo>
                  <a:pt x="725" y="322"/>
                  <a:pt x="725" y="322"/>
                  <a:pt x="725" y="322"/>
                </a:cubicBezTo>
                <a:cubicBezTo>
                  <a:pt x="804" y="322"/>
                  <a:pt x="804" y="322"/>
                  <a:pt x="804" y="322"/>
                </a:cubicBezTo>
                <a:cubicBezTo>
                  <a:pt x="858" y="33"/>
                  <a:pt x="858" y="33"/>
                  <a:pt x="858" y="33"/>
                </a:cubicBezTo>
                <a:cubicBezTo>
                  <a:pt x="860" y="322"/>
                  <a:pt x="860" y="322"/>
                  <a:pt x="860" y="322"/>
                </a:cubicBezTo>
                <a:cubicBezTo>
                  <a:pt x="938" y="322"/>
                  <a:pt x="938" y="322"/>
                  <a:pt x="938" y="322"/>
                </a:cubicBezTo>
                <a:cubicBezTo>
                  <a:pt x="931" y="10"/>
                  <a:pt x="931" y="10"/>
                  <a:pt x="931" y="10"/>
                </a:cubicBezTo>
                <a:lnTo>
                  <a:pt x="804" y="10"/>
                </a:lnTo>
                <a:close/>
                <a:moveTo>
                  <a:pt x="1528" y="10"/>
                </a:moveTo>
                <a:cubicBezTo>
                  <a:pt x="1449" y="10"/>
                  <a:pt x="1449" y="10"/>
                  <a:pt x="1449" y="10"/>
                </a:cubicBezTo>
                <a:cubicBezTo>
                  <a:pt x="1449" y="241"/>
                  <a:pt x="1449" y="241"/>
                  <a:pt x="1449" y="241"/>
                </a:cubicBezTo>
                <a:cubicBezTo>
                  <a:pt x="1449" y="245"/>
                  <a:pt x="1449" y="249"/>
                  <a:pt x="1448" y="253"/>
                </a:cubicBezTo>
                <a:cubicBezTo>
                  <a:pt x="1447" y="260"/>
                  <a:pt x="1440" y="275"/>
                  <a:pt x="1418" y="275"/>
                </a:cubicBezTo>
                <a:cubicBezTo>
                  <a:pt x="1397" y="275"/>
                  <a:pt x="1390" y="260"/>
                  <a:pt x="1389" y="253"/>
                </a:cubicBezTo>
                <a:cubicBezTo>
                  <a:pt x="1388" y="249"/>
                  <a:pt x="1388" y="245"/>
                  <a:pt x="1388" y="241"/>
                </a:cubicBezTo>
                <a:cubicBezTo>
                  <a:pt x="1388" y="10"/>
                  <a:pt x="1388" y="10"/>
                  <a:pt x="1388" y="10"/>
                </a:cubicBezTo>
                <a:cubicBezTo>
                  <a:pt x="1309" y="10"/>
                  <a:pt x="1309" y="10"/>
                  <a:pt x="1309" y="10"/>
                </a:cubicBezTo>
                <a:cubicBezTo>
                  <a:pt x="1309" y="234"/>
                  <a:pt x="1309" y="234"/>
                  <a:pt x="1309" y="234"/>
                </a:cubicBezTo>
                <a:cubicBezTo>
                  <a:pt x="1309" y="239"/>
                  <a:pt x="1309" y="251"/>
                  <a:pt x="1310" y="254"/>
                </a:cubicBezTo>
                <a:cubicBezTo>
                  <a:pt x="1315" y="312"/>
                  <a:pt x="1361" y="331"/>
                  <a:pt x="1418" y="331"/>
                </a:cubicBezTo>
                <a:cubicBezTo>
                  <a:pt x="1476" y="331"/>
                  <a:pt x="1522" y="312"/>
                  <a:pt x="1527" y="254"/>
                </a:cubicBezTo>
                <a:cubicBezTo>
                  <a:pt x="1528" y="251"/>
                  <a:pt x="1528" y="239"/>
                  <a:pt x="1528" y="234"/>
                </a:cubicBezTo>
                <a:lnTo>
                  <a:pt x="1528" y="10"/>
                </a:lnTo>
                <a:close/>
                <a:moveTo>
                  <a:pt x="2069" y="147"/>
                </a:moveTo>
                <a:cubicBezTo>
                  <a:pt x="2069" y="192"/>
                  <a:pt x="2069" y="192"/>
                  <a:pt x="2069" y="192"/>
                </a:cubicBezTo>
                <a:cubicBezTo>
                  <a:pt x="2101" y="192"/>
                  <a:pt x="2101" y="192"/>
                  <a:pt x="2101" y="192"/>
                </a:cubicBezTo>
                <a:cubicBezTo>
                  <a:pt x="2101" y="237"/>
                  <a:pt x="2101" y="237"/>
                  <a:pt x="2101" y="237"/>
                </a:cubicBezTo>
                <a:cubicBezTo>
                  <a:pt x="2101" y="241"/>
                  <a:pt x="2101" y="246"/>
                  <a:pt x="2100" y="249"/>
                </a:cubicBezTo>
                <a:cubicBezTo>
                  <a:pt x="2099" y="258"/>
                  <a:pt x="2091" y="272"/>
                  <a:pt x="2068" y="272"/>
                </a:cubicBezTo>
                <a:cubicBezTo>
                  <a:pt x="2045" y="272"/>
                  <a:pt x="2038" y="258"/>
                  <a:pt x="2036" y="249"/>
                </a:cubicBezTo>
                <a:cubicBezTo>
                  <a:pt x="2036" y="246"/>
                  <a:pt x="2035" y="241"/>
                  <a:pt x="2035" y="237"/>
                </a:cubicBezTo>
                <a:cubicBezTo>
                  <a:pt x="2035" y="95"/>
                  <a:pt x="2035" y="95"/>
                  <a:pt x="2035" y="95"/>
                </a:cubicBezTo>
                <a:cubicBezTo>
                  <a:pt x="2035" y="90"/>
                  <a:pt x="2036" y="85"/>
                  <a:pt x="2037" y="80"/>
                </a:cubicBezTo>
                <a:cubicBezTo>
                  <a:pt x="2038" y="73"/>
                  <a:pt x="2045" y="58"/>
                  <a:pt x="2068" y="58"/>
                </a:cubicBezTo>
                <a:cubicBezTo>
                  <a:pt x="2092" y="58"/>
                  <a:pt x="2098" y="74"/>
                  <a:pt x="2099" y="80"/>
                </a:cubicBezTo>
                <a:cubicBezTo>
                  <a:pt x="2100" y="85"/>
                  <a:pt x="2100" y="92"/>
                  <a:pt x="2100" y="92"/>
                </a:cubicBezTo>
                <a:cubicBezTo>
                  <a:pt x="2100" y="110"/>
                  <a:pt x="2100" y="110"/>
                  <a:pt x="2100" y="110"/>
                </a:cubicBezTo>
                <a:cubicBezTo>
                  <a:pt x="2178" y="110"/>
                  <a:pt x="2178" y="110"/>
                  <a:pt x="2178" y="110"/>
                </a:cubicBezTo>
                <a:cubicBezTo>
                  <a:pt x="2178" y="99"/>
                  <a:pt x="2178" y="99"/>
                  <a:pt x="2178" y="99"/>
                </a:cubicBezTo>
                <a:cubicBezTo>
                  <a:pt x="2178" y="99"/>
                  <a:pt x="2179" y="89"/>
                  <a:pt x="2178" y="79"/>
                </a:cubicBezTo>
                <a:cubicBezTo>
                  <a:pt x="2172" y="20"/>
                  <a:pt x="2124" y="2"/>
                  <a:pt x="2068" y="2"/>
                </a:cubicBezTo>
                <a:cubicBezTo>
                  <a:pt x="2013" y="2"/>
                  <a:pt x="1966" y="21"/>
                  <a:pt x="1959" y="79"/>
                </a:cubicBezTo>
                <a:cubicBezTo>
                  <a:pt x="1958" y="84"/>
                  <a:pt x="1958" y="94"/>
                  <a:pt x="1958" y="99"/>
                </a:cubicBezTo>
                <a:cubicBezTo>
                  <a:pt x="1958" y="230"/>
                  <a:pt x="1958" y="230"/>
                  <a:pt x="1958" y="230"/>
                </a:cubicBezTo>
                <a:cubicBezTo>
                  <a:pt x="1958" y="236"/>
                  <a:pt x="1958" y="241"/>
                  <a:pt x="1959" y="251"/>
                </a:cubicBezTo>
                <a:cubicBezTo>
                  <a:pt x="1964" y="308"/>
                  <a:pt x="2013" y="328"/>
                  <a:pt x="2068" y="328"/>
                </a:cubicBezTo>
                <a:cubicBezTo>
                  <a:pt x="2124" y="328"/>
                  <a:pt x="2173" y="308"/>
                  <a:pt x="2178" y="251"/>
                </a:cubicBezTo>
                <a:cubicBezTo>
                  <a:pt x="2179" y="241"/>
                  <a:pt x="2179" y="236"/>
                  <a:pt x="2179" y="230"/>
                </a:cubicBezTo>
                <a:cubicBezTo>
                  <a:pt x="2179" y="147"/>
                  <a:pt x="2179" y="147"/>
                  <a:pt x="2179" y="147"/>
                </a:cubicBezTo>
                <a:lnTo>
                  <a:pt x="2069" y="147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37138" tIns="68550" rIns="137138" bIns="685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27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744497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6"/>
          <p:cNvSpPr/>
          <p:nvPr/>
        </p:nvSpPr>
        <p:spPr>
          <a:xfrm>
            <a:off x="1" y="0"/>
            <a:ext cx="18288000" cy="3105807"/>
          </a:xfrm>
          <a:prstGeom prst="rect">
            <a:avLst/>
          </a:prstGeom>
          <a:solidFill>
            <a:srgbClr val="193EB0"/>
          </a:solidFill>
          <a:ln>
            <a:noFill/>
          </a:ln>
        </p:spPr>
        <p:txBody>
          <a:bodyPr spcFirstLastPara="1" wrap="square" lIns="137138" tIns="68550" rIns="137138" bIns="685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46"/>
          <p:cNvSpPr/>
          <p:nvPr/>
        </p:nvSpPr>
        <p:spPr>
          <a:xfrm>
            <a:off x="1057441" y="9533057"/>
            <a:ext cx="5334857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  <a:endParaRPr sz="2700"/>
          </a:p>
        </p:txBody>
      </p:sp>
    </p:spTree>
    <p:extLst>
      <p:ext uri="{BB962C8B-B14F-4D97-AF65-F5344CB8AC3E}">
        <p14:creationId xmlns:p14="http://schemas.microsoft.com/office/powerpoint/2010/main" val="7045199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ront Cover">
  <p:cSld name="Front Cover">
    <p:bg>
      <p:bgPr>
        <a:solidFill>
          <a:srgbClr val="193EB0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5"/>
          <p:cNvSpPr/>
          <p:nvPr/>
        </p:nvSpPr>
        <p:spPr>
          <a:xfrm>
            <a:off x="1057441" y="9533057"/>
            <a:ext cx="5334857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  <a:endParaRPr sz="2700"/>
          </a:p>
        </p:txBody>
      </p:sp>
    </p:spTree>
    <p:extLst>
      <p:ext uri="{BB962C8B-B14F-4D97-AF65-F5344CB8AC3E}">
        <p14:creationId xmlns:p14="http://schemas.microsoft.com/office/powerpoint/2010/main" val="36043072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 Cover">
  <p:cSld name="Back Cover">
    <p:bg>
      <p:bgPr>
        <a:solidFill>
          <a:srgbClr val="193EB0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8"/>
          <p:cNvSpPr/>
          <p:nvPr/>
        </p:nvSpPr>
        <p:spPr>
          <a:xfrm>
            <a:off x="1095078" y="8446562"/>
            <a:ext cx="17192922" cy="1102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ⓒ2020 SAMSUNG. All rights reserved.</a:t>
            </a:r>
            <a:endParaRPr sz="2700"/>
          </a:p>
          <a:p>
            <a:pPr marL="0" marR="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Samsung Electronics Corporate Citizenship Office holds the copyright of book.</a:t>
            </a:r>
            <a:endParaRPr sz="2700"/>
          </a:p>
          <a:p>
            <a:pPr marL="0" marR="0" lvl="0" indent="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This book is a literary property protected by copyright law so reprint and reproduction without permission are prohibited. </a:t>
            </a:r>
            <a:endParaRPr sz="27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 use this book other than the curriculum of Samsung innovation Campus or to use the entire or part of this book, you must receive written consent from copyright holder.</a:t>
            </a:r>
            <a:endParaRPr sz="2700"/>
          </a:p>
        </p:txBody>
      </p:sp>
      <p:sp>
        <p:nvSpPr>
          <p:cNvPr id="24" name="Google Shape;24;p48"/>
          <p:cNvSpPr/>
          <p:nvPr/>
        </p:nvSpPr>
        <p:spPr>
          <a:xfrm>
            <a:off x="14896875" y="605937"/>
            <a:ext cx="2513353" cy="315288"/>
          </a:xfrm>
          <a:custGeom>
            <a:avLst/>
            <a:gdLst/>
            <a:ahLst/>
            <a:cxnLst/>
            <a:rect l="l" t="t" r="r" b="b"/>
            <a:pathLst>
              <a:path w="2179" h="334" extrusionOk="0">
                <a:moveTo>
                  <a:pt x="83" y="91"/>
                </a:moveTo>
                <a:cubicBezTo>
                  <a:pt x="81" y="84"/>
                  <a:pt x="82" y="78"/>
                  <a:pt x="82" y="74"/>
                </a:cubicBezTo>
                <a:cubicBezTo>
                  <a:pt x="84" y="64"/>
                  <a:pt x="91" y="53"/>
                  <a:pt x="111" y="53"/>
                </a:cubicBezTo>
                <a:cubicBezTo>
                  <a:pt x="129" y="53"/>
                  <a:pt x="140" y="65"/>
                  <a:pt x="140" y="82"/>
                </a:cubicBezTo>
                <a:cubicBezTo>
                  <a:pt x="140" y="101"/>
                  <a:pt x="140" y="101"/>
                  <a:pt x="140" y="101"/>
                </a:cubicBezTo>
                <a:cubicBezTo>
                  <a:pt x="218" y="101"/>
                  <a:pt x="218" y="101"/>
                  <a:pt x="218" y="101"/>
                </a:cubicBezTo>
                <a:cubicBezTo>
                  <a:pt x="218" y="79"/>
                  <a:pt x="218" y="79"/>
                  <a:pt x="218" y="79"/>
                </a:cubicBezTo>
                <a:cubicBezTo>
                  <a:pt x="218" y="11"/>
                  <a:pt x="156" y="0"/>
                  <a:pt x="112" y="0"/>
                </a:cubicBezTo>
                <a:cubicBezTo>
                  <a:pt x="57" y="0"/>
                  <a:pt x="12" y="19"/>
                  <a:pt x="4" y="70"/>
                </a:cubicBezTo>
                <a:cubicBezTo>
                  <a:pt x="1" y="84"/>
                  <a:pt x="1" y="96"/>
                  <a:pt x="4" y="112"/>
                </a:cubicBezTo>
                <a:cubicBezTo>
                  <a:pt x="18" y="175"/>
                  <a:pt x="128" y="194"/>
                  <a:pt x="145" y="234"/>
                </a:cubicBezTo>
                <a:cubicBezTo>
                  <a:pt x="148" y="241"/>
                  <a:pt x="147" y="251"/>
                  <a:pt x="145" y="257"/>
                </a:cubicBezTo>
                <a:cubicBezTo>
                  <a:pt x="143" y="267"/>
                  <a:pt x="136" y="278"/>
                  <a:pt x="115" y="278"/>
                </a:cubicBezTo>
                <a:cubicBezTo>
                  <a:pt x="95" y="278"/>
                  <a:pt x="84" y="267"/>
                  <a:pt x="84" y="250"/>
                </a:cubicBezTo>
                <a:cubicBezTo>
                  <a:pt x="83" y="220"/>
                  <a:pt x="83" y="220"/>
                  <a:pt x="83" y="220"/>
                </a:cubicBezTo>
                <a:cubicBezTo>
                  <a:pt x="0" y="220"/>
                  <a:pt x="0" y="220"/>
                  <a:pt x="0" y="220"/>
                </a:cubicBezTo>
                <a:cubicBezTo>
                  <a:pt x="0" y="244"/>
                  <a:pt x="0" y="244"/>
                  <a:pt x="0" y="244"/>
                </a:cubicBezTo>
                <a:cubicBezTo>
                  <a:pt x="0" y="313"/>
                  <a:pt x="55" y="334"/>
                  <a:pt x="113" y="334"/>
                </a:cubicBezTo>
                <a:cubicBezTo>
                  <a:pt x="169" y="334"/>
                  <a:pt x="216" y="315"/>
                  <a:pt x="223" y="263"/>
                </a:cubicBezTo>
                <a:cubicBezTo>
                  <a:pt x="227" y="236"/>
                  <a:pt x="224" y="218"/>
                  <a:pt x="223" y="212"/>
                </a:cubicBezTo>
                <a:cubicBezTo>
                  <a:pt x="210" y="146"/>
                  <a:pt x="92" y="127"/>
                  <a:pt x="83" y="91"/>
                </a:cubicBezTo>
                <a:moveTo>
                  <a:pt x="1096" y="91"/>
                </a:moveTo>
                <a:cubicBezTo>
                  <a:pt x="1094" y="85"/>
                  <a:pt x="1095" y="79"/>
                  <a:pt x="1096" y="75"/>
                </a:cubicBezTo>
                <a:cubicBezTo>
                  <a:pt x="1098" y="65"/>
                  <a:pt x="1104" y="54"/>
                  <a:pt x="1124" y="54"/>
                </a:cubicBezTo>
                <a:cubicBezTo>
                  <a:pt x="1142" y="54"/>
                  <a:pt x="1152" y="66"/>
                  <a:pt x="1152" y="82"/>
                </a:cubicBezTo>
                <a:cubicBezTo>
                  <a:pt x="1152" y="102"/>
                  <a:pt x="1152" y="102"/>
                  <a:pt x="1152" y="102"/>
                </a:cubicBezTo>
                <a:cubicBezTo>
                  <a:pt x="1229" y="102"/>
                  <a:pt x="1229" y="102"/>
                  <a:pt x="1229" y="102"/>
                </a:cubicBezTo>
                <a:cubicBezTo>
                  <a:pt x="1229" y="80"/>
                  <a:pt x="1229" y="80"/>
                  <a:pt x="1229" y="80"/>
                </a:cubicBezTo>
                <a:cubicBezTo>
                  <a:pt x="1229" y="13"/>
                  <a:pt x="1169" y="2"/>
                  <a:pt x="1125" y="2"/>
                </a:cubicBezTo>
                <a:cubicBezTo>
                  <a:pt x="1070" y="2"/>
                  <a:pt x="1026" y="20"/>
                  <a:pt x="1017" y="71"/>
                </a:cubicBezTo>
                <a:cubicBezTo>
                  <a:pt x="1015" y="84"/>
                  <a:pt x="1015" y="97"/>
                  <a:pt x="1018" y="112"/>
                </a:cubicBezTo>
                <a:cubicBezTo>
                  <a:pt x="1032" y="175"/>
                  <a:pt x="1141" y="193"/>
                  <a:pt x="1157" y="233"/>
                </a:cubicBezTo>
                <a:cubicBezTo>
                  <a:pt x="1160" y="241"/>
                  <a:pt x="1159" y="250"/>
                  <a:pt x="1158" y="256"/>
                </a:cubicBezTo>
                <a:cubicBezTo>
                  <a:pt x="1155" y="267"/>
                  <a:pt x="1148" y="277"/>
                  <a:pt x="1128" y="277"/>
                </a:cubicBezTo>
                <a:cubicBezTo>
                  <a:pt x="1108" y="277"/>
                  <a:pt x="1097" y="266"/>
                  <a:pt x="1097" y="249"/>
                </a:cubicBezTo>
                <a:cubicBezTo>
                  <a:pt x="1097" y="219"/>
                  <a:pt x="1097" y="219"/>
                  <a:pt x="1097" y="219"/>
                </a:cubicBezTo>
                <a:cubicBezTo>
                  <a:pt x="1014" y="219"/>
                  <a:pt x="1014" y="219"/>
                  <a:pt x="1014" y="219"/>
                </a:cubicBezTo>
                <a:cubicBezTo>
                  <a:pt x="1014" y="243"/>
                  <a:pt x="1014" y="243"/>
                  <a:pt x="1014" y="243"/>
                </a:cubicBezTo>
                <a:cubicBezTo>
                  <a:pt x="1014" y="312"/>
                  <a:pt x="1068" y="332"/>
                  <a:pt x="1126" y="332"/>
                </a:cubicBezTo>
                <a:cubicBezTo>
                  <a:pt x="1182" y="332"/>
                  <a:pt x="1228" y="313"/>
                  <a:pt x="1235" y="262"/>
                </a:cubicBezTo>
                <a:cubicBezTo>
                  <a:pt x="1238" y="235"/>
                  <a:pt x="1236" y="218"/>
                  <a:pt x="1234" y="211"/>
                </a:cubicBezTo>
                <a:cubicBezTo>
                  <a:pt x="1221" y="147"/>
                  <a:pt x="1105" y="127"/>
                  <a:pt x="1096" y="91"/>
                </a:cubicBezTo>
                <a:moveTo>
                  <a:pt x="1803" y="261"/>
                </a:moveTo>
                <a:cubicBezTo>
                  <a:pt x="1730" y="10"/>
                  <a:pt x="1730" y="10"/>
                  <a:pt x="1730" y="10"/>
                </a:cubicBezTo>
                <a:cubicBezTo>
                  <a:pt x="1614" y="10"/>
                  <a:pt x="1614" y="10"/>
                  <a:pt x="1614" y="10"/>
                </a:cubicBezTo>
                <a:cubicBezTo>
                  <a:pt x="1614" y="319"/>
                  <a:pt x="1614" y="319"/>
                  <a:pt x="1614" y="319"/>
                </a:cubicBezTo>
                <a:cubicBezTo>
                  <a:pt x="1691" y="319"/>
                  <a:pt x="1691" y="319"/>
                  <a:pt x="1691" y="319"/>
                </a:cubicBezTo>
                <a:cubicBezTo>
                  <a:pt x="1686" y="60"/>
                  <a:pt x="1686" y="60"/>
                  <a:pt x="1686" y="60"/>
                </a:cubicBezTo>
                <a:cubicBezTo>
                  <a:pt x="1765" y="319"/>
                  <a:pt x="1765" y="319"/>
                  <a:pt x="1765" y="319"/>
                </a:cubicBezTo>
                <a:cubicBezTo>
                  <a:pt x="1876" y="319"/>
                  <a:pt x="1876" y="319"/>
                  <a:pt x="1876" y="319"/>
                </a:cubicBezTo>
                <a:cubicBezTo>
                  <a:pt x="1876" y="10"/>
                  <a:pt x="1876" y="10"/>
                  <a:pt x="1876" y="10"/>
                </a:cubicBezTo>
                <a:cubicBezTo>
                  <a:pt x="1799" y="10"/>
                  <a:pt x="1799" y="10"/>
                  <a:pt x="1799" y="10"/>
                </a:cubicBezTo>
                <a:lnTo>
                  <a:pt x="1803" y="261"/>
                </a:lnTo>
                <a:close/>
                <a:moveTo>
                  <a:pt x="333" y="10"/>
                </a:moveTo>
                <a:cubicBezTo>
                  <a:pt x="276" y="322"/>
                  <a:pt x="276" y="322"/>
                  <a:pt x="276" y="322"/>
                </a:cubicBezTo>
                <a:cubicBezTo>
                  <a:pt x="360" y="322"/>
                  <a:pt x="360" y="322"/>
                  <a:pt x="360" y="322"/>
                </a:cubicBezTo>
                <a:cubicBezTo>
                  <a:pt x="403" y="33"/>
                  <a:pt x="403" y="33"/>
                  <a:pt x="403" y="33"/>
                </a:cubicBezTo>
                <a:cubicBezTo>
                  <a:pt x="446" y="322"/>
                  <a:pt x="446" y="322"/>
                  <a:pt x="446" y="322"/>
                </a:cubicBezTo>
                <a:cubicBezTo>
                  <a:pt x="529" y="322"/>
                  <a:pt x="529" y="322"/>
                  <a:pt x="529" y="322"/>
                </a:cubicBezTo>
                <a:cubicBezTo>
                  <a:pt x="472" y="10"/>
                  <a:pt x="472" y="10"/>
                  <a:pt x="472" y="10"/>
                </a:cubicBezTo>
                <a:lnTo>
                  <a:pt x="333" y="10"/>
                </a:lnTo>
                <a:close/>
                <a:moveTo>
                  <a:pt x="804" y="10"/>
                </a:moveTo>
                <a:cubicBezTo>
                  <a:pt x="765" y="254"/>
                  <a:pt x="765" y="254"/>
                  <a:pt x="765" y="254"/>
                </a:cubicBezTo>
                <a:cubicBezTo>
                  <a:pt x="725" y="10"/>
                  <a:pt x="725" y="10"/>
                  <a:pt x="725" y="10"/>
                </a:cubicBezTo>
                <a:cubicBezTo>
                  <a:pt x="598" y="10"/>
                  <a:pt x="598" y="10"/>
                  <a:pt x="598" y="10"/>
                </a:cubicBezTo>
                <a:cubicBezTo>
                  <a:pt x="592" y="322"/>
                  <a:pt x="592" y="322"/>
                  <a:pt x="592" y="322"/>
                </a:cubicBezTo>
                <a:cubicBezTo>
                  <a:pt x="669" y="322"/>
                  <a:pt x="669" y="322"/>
                  <a:pt x="669" y="322"/>
                </a:cubicBezTo>
                <a:cubicBezTo>
                  <a:pt x="671" y="33"/>
                  <a:pt x="671" y="33"/>
                  <a:pt x="671" y="33"/>
                </a:cubicBezTo>
                <a:cubicBezTo>
                  <a:pt x="725" y="322"/>
                  <a:pt x="725" y="322"/>
                  <a:pt x="725" y="322"/>
                </a:cubicBezTo>
                <a:cubicBezTo>
                  <a:pt x="804" y="322"/>
                  <a:pt x="804" y="322"/>
                  <a:pt x="804" y="322"/>
                </a:cubicBezTo>
                <a:cubicBezTo>
                  <a:pt x="858" y="33"/>
                  <a:pt x="858" y="33"/>
                  <a:pt x="858" y="33"/>
                </a:cubicBezTo>
                <a:cubicBezTo>
                  <a:pt x="860" y="322"/>
                  <a:pt x="860" y="322"/>
                  <a:pt x="860" y="322"/>
                </a:cubicBezTo>
                <a:cubicBezTo>
                  <a:pt x="938" y="322"/>
                  <a:pt x="938" y="322"/>
                  <a:pt x="938" y="322"/>
                </a:cubicBezTo>
                <a:cubicBezTo>
                  <a:pt x="931" y="10"/>
                  <a:pt x="931" y="10"/>
                  <a:pt x="931" y="10"/>
                </a:cubicBezTo>
                <a:lnTo>
                  <a:pt x="804" y="10"/>
                </a:lnTo>
                <a:close/>
                <a:moveTo>
                  <a:pt x="1528" y="10"/>
                </a:moveTo>
                <a:cubicBezTo>
                  <a:pt x="1449" y="10"/>
                  <a:pt x="1449" y="10"/>
                  <a:pt x="1449" y="10"/>
                </a:cubicBezTo>
                <a:cubicBezTo>
                  <a:pt x="1449" y="241"/>
                  <a:pt x="1449" y="241"/>
                  <a:pt x="1449" y="241"/>
                </a:cubicBezTo>
                <a:cubicBezTo>
                  <a:pt x="1449" y="245"/>
                  <a:pt x="1449" y="249"/>
                  <a:pt x="1448" y="253"/>
                </a:cubicBezTo>
                <a:cubicBezTo>
                  <a:pt x="1447" y="260"/>
                  <a:pt x="1440" y="275"/>
                  <a:pt x="1418" y="275"/>
                </a:cubicBezTo>
                <a:cubicBezTo>
                  <a:pt x="1397" y="275"/>
                  <a:pt x="1390" y="260"/>
                  <a:pt x="1389" y="253"/>
                </a:cubicBezTo>
                <a:cubicBezTo>
                  <a:pt x="1388" y="249"/>
                  <a:pt x="1388" y="245"/>
                  <a:pt x="1388" y="241"/>
                </a:cubicBezTo>
                <a:cubicBezTo>
                  <a:pt x="1388" y="10"/>
                  <a:pt x="1388" y="10"/>
                  <a:pt x="1388" y="10"/>
                </a:cubicBezTo>
                <a:cubicBezTo>
                  <a:pt x="1309" y="10"/>
                  <a:pt x="1309" y="10"/>
                  <a:pt x="1309" y="10"/>
                </a:cubicBezTo>
                <a:cubicBezTo>
                  <a:pt x="1309" y="234"/>
                  <a:pt x="1309" y="234"/>
                  <a:pt x="1309" y="234"/>
                </a:cubicBezTo>
                <a:cubicBezTo>
                  <a:pt x="1309" y="239"/>
                  <a:pt x="1309" y="251"/>
                  <a:pt x="1310" y="254"/>
                </a:cubicBezTo>
                <a:cubicBezTo>
                  <a:pt x="1315" y="312"/>
                  <a:pt x="1361" y="331"/>
                  <a:pt x="1418" y="331"/>
                </a:cubicBezTo>
                <a:cubicBezTo>
                  <a:pt x="1476" y="331"/>
                  <a:pt x="1522" y="312"/>
                  <a:pt x="1527" y="254"/>
                </a:cubicBezTo>
                <a:cubicBezTo>
                  <a:pt x="1528" y="251"/>
                  <a:pt x="1528" y="239"/>
                  <a:pt x="1528" y="234"/>
                </a:cubicBezTo>
                <a:lnTo>
                  <a:pt x="1528" y="10"/>
                </a:lnTo>
                <a:close/>
                <a:moveTo>
                  <a:pt x="2069" y="147"/>
                </a:moveTo>
                <a:cubicBezTo>
                  <a:pt x="2069" y="192"/>
                  <a:pt x="2069" y="192"/>
                  <a:pt x="2069" y="192"/>
                </a:cubicBezTo>
                <a:cubicBezTo>
                  <a:pt x="2101" y="192"/>
                  <a:pt x="2101" y="192"/>
                  <a:pt x="2101" y="192"/>
                </a:cubicBezTo>
                <a:cubicBezTo>
                  <a:pt x="2101" y="237"/>
                  <a:pt x="2101" y="237"/>
                  <a:pt x="2101" y="237"/>
                </a:cubicBezTo>
                <a:cubicBezTo>
                  <a:pt x="2101" y="241"/>
                  <a:pt x="2101" y="246"/>
                  <a:pt x="2100" y="249"/>
                </a:cubicBezTo>
                <a:cubicBezTo>
                  <a:pt x="2099" y="258"/>
                  <a:pt x="2091" y="272"/>
                  <a:pt x="2068" y="272"/>
                </a:cubicBezTo>
                <a:cubicBezTo>
                  <a:pt x="2045" y="272"/>
                  <a:pt x="2038" y="258"/>
                  <a:pt x="2036" y="249"/>
                </a:cubicBezTo>
                <a:cubicBezTo>
                  <a:pt x="2036" y="246"/>
                  <a:pt x="2035" y="241"/>
                  <a:pt x="2035" y="237"/>
                </a:cubicBezTo>
                <a:cubicBezTo>
                  <a:pt x="2035" y="95"/>
                  <a:pt x="2035" y="95"/>
                  <a:pt x="2035" y="95"/>
                </a:cubicBezTo>
                <a:cubicBezTo>
                  <a:pt x="2035" y="90"/>
                  <a:pt x="2036" y="85"/>
                  <a:pt x="2037" y="80"/>
                </a:cubicBezTo>
                <a:cubicBezTo>
                  <a:pt x="2038" y="73"/>
                  <a:pt x="2045" y="58"/>
                  <a:pt x="2068" y="58"/>
                </a:cubicBezTo>
                <a:cubicBezTo>
                  <a:pt x="2092" y="58"/>
                  <a:pt x="2098" y="74"/>
                  <a:pt x="2099" y="80"/>
                </a:cubicBezTo>
                <a:cubicBezTo>
                  <a:pt x="2100" y="85"/>
                  <a:pt x="2100" y="92"/>
                  <a:pt x="2100" y="92"/>
                </a:cubicBezTo>
                <a:cubicBezTo>
                  <a:pt x="2100" y="110"/>
                  <a:pt x="2100" y="110"/>
                  <a:pt x="2100" y="110"/>
                </a:cubicBezTo>
                <a:cubicBezTo>
                  <a:pt x="2178" y="110"/>
                  <a:pt x="2178" y="110"/>
                  <a:pt x="2178" y="110"/>
                </a:cubicBezTo>
                <a:cubicBezTo>
                  <a:pt x="2178" y="99"/>
                  <a:pt x="2178" y="99"/>
                  <a:pt x="2178" y="99"/>
                </a:cubicBezTo>
                <a:cubicBezTo>
                  <a:pt x="2178" y="99"/>
                  <a:pt x="2179" y="89"/>
                  <a:pt x="2178" y="79"/>
                </a:cubicBezTo>
                <a:cubicBezTo>
                  <a:pt x="2172" y="20"/>
                  <a:pt x="2124" y="2"/>
                  <a:pt x="2068" y="2"/>
                </a:cubicBezTo>
                <a:cubicBezTo>
                  <a:pt x="2013" y="2"/>
                  <a:pt x="1966" y="21"/>
                  <a:pt x="1959" y="79"/>
                </a:cubicBezTo>
                <a:cubicBezTo>
                  <a:pt x="1958" y="84"/>
                  <a:pt x="1958" y="94"/>
                  <a:pt x="1958" y="99"/>
                </a:cubicBezTo>
                <a:cubicBezTo>
                  <a:pt x="1958" y="230"/>
                  <a:pt x="1958" y="230"/>
                  <a:pt x="1958" y="230"/>
                </a:cubicBezTo>
                <a:cubicBezTo>
                  <a:pt x="1958" y="236"/>
                  <a:pt x="1958" y="241"/>
                  <a:pt x="1959" y="251"/>
                </a:cubicBezTo>
                <a:cubicBezTo>
                  <a:pt x="1964" y="308"/>
                  <a:pt x="2013" y="328"/>
                  <a:pt x="2068" y="328"/>
                </a:cubicBezTo>
                <a:cubicBezTo>
                  <a:pt x="2124" y="328"/>
                  <a:pt x="2173" y="308"/>
                  <a:pt x="2178" y="251"/>
                </a:cubicBezTo>
                <a:cubicBezTo>
                  <a:pt x="2179" y="241"/>
                  <a:pt x="2179" y="236"/>
                  <a:pt x="2179" y="230"/>
                </a:cubicBezTo>
                <a:cubicBezTo>
                  <a:pt x="2179" y="147"/>
                  <a:pt x="2179" y="147"/>
                  <a:pt x="2179" y="147"/>
                </a:cubicBezTo>
                <a:lnTo>
                  <a:pt x="2069" y="147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37138" tIns="68550" rIns="137138" bIns="685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27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" name="Google Shape;25;p4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41182" y="3943319"/>
            <a:ext cx="6205635" cy="165320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97101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4" r:id="rId15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2971800" y="3695700"/>
            <a:ext cx="13102949" cy="1015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rgbClr val="FFFFFF"/>
              </a:buClr>
              <a:buSzPts val="4400"/>
            </a:pPr>
            <a:r>
              <a:rPr lang="en-US" sz="4400" b="1" dirty="0">
                <a:solidFill>
                  <a:schemeClr val="bg1"/>
                </a:solidFill>
              </a:rPr>
              <a:t>Weather Impact on UK Retail Sales</a:t>
            </a:r>
          </a:p>
          <a:p>
            <a:pPr>
              <a:buClr>
                <a:srgbClr val="FFFFFF"/>
              </a:buClr>
              <a:buSzPts val="4400"/>
            </a:pPr>
            <a:r>
              <a:rPr lang="en-US" sz="3200" i="1" dirty="0">
                <a:solidFill>
                  <a:schemeClr val="bg1"/>
                </a:solidFill>
              </a:rPr>
              <a:t>End-to-End Big Data Pipeline </a:t>
            </a:r>
            <a:endParaRPr lang="en-US" sz="3200" dirty="0">
              <a:solidFill>
                <a:schemeClr val="bg1"/>
              </a:solidFill>
            </a:endParaRPr>
          </a:p>
          <a:p>
            <a:pPr>
              <a:buClr>
                <a:srgbClr val="FFFFFF"/>
              </a:buClr>
              <a:buSzPts val="4400"/>
            </a:pPr>
            <a:endParaRPr lang="en-US" sz="4200" b="1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3015734" y="5847366"/>
            <a:ext cx="9067500" cy="553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00B3E3"/>
              </a:buClr>
              <a:buSzPts val="2400"/>
            </a:pPr>
            <a:r>
              <a:rPr lang="en-US" sz="3600" dirty="0">
                <a:solidFill>
                  <a:srgbClr val="00B3E3"/>
                </a:solidFill>
              </a:rPr>
              <a:t>SIC 7</a:t>
            </a:r>
            <a:endParaRPr sz="3600" dirty="0">
              <a:solidFill>
                <a:srgbClr val="00B3E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40;p2">
            <a:extLst>
              <a:ext uri="{FF2B5EF4-FFF2-40B4-BE49-F238E27FC236}">
                <a16:creationId xmlns:a16="http://schemas.microsoft.com/office/drawing/2014/main" id="{4D6E79AD-A326-7676-B9BA-D473A9DDA013}"/>
              </a:ext>
            </a:extLst>
          </p:cNvPr>
          <p:cNvSpPr/>
          <p:nvPr/>
        </p:nvSpPr>
        <p:spPr>
          <a:xfrm>
            <a:off x="3015732" y="6401267"/>
            <a:ext cx="23566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sz="3150" dirty="0">
                <a:solidFill>
                  <a:srgbClr val="00B3E3"/>
                </a:solidFill>
                <a:latin typeface="Arial"/>
                <a:ea typeface="Arial"/>
                <a:cs typeface="Arial"/>
                <a:sym typeface="Arial"/>
              </a:rPr>
              <a:t>BD Course</a:t>
            </a:r>
            <a:endParaRPr sz="3150" dirty="0">
              <a:solidFill>
                <a:srgbClr val="00B3E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279846-15A7-43AC-4D6C-D8A33360C732}"/>
              </a:ext>
            </a:extLst>
          </p:cNvPr>
          <p:cNvSpPr txBox="1"/>
          <p:nvPr/>
        </p:nvSpPr>
        <p:spPr>
          <a:xfrm>
            <a:off x="2898165" y="6787994"/>
            <a:ext cx="74262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rgbClr val="00B3E3"/>
                </a:solidFill>
              </a:rPr>
              <a:t>G 17</a:t>
            </a:r>
            <a:endParaRPr 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"/>
          <p:cNvSpPr/>
          <p:nvPr/>
        </p:nvSpPr>
        <p:spPr>
          <a:xfrm>
            <a:off x="2555082" y="1393442"/>
            <a:ext cx="743355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5000" b="1" dirty="0">
                <a:solidFill>
                  <a:schemeClr val="lt1"/>
                </a:solidFill>
              </a:rPr>
              <a:t>Agenda</a:t>
            </a:r>
            <a:endParaRPr sz="5000" b="1" dirty="0"/>
          </a:p>
        </p:txBody>
      </p:sp>
      <p:grpSp>
        <p:nvGrpSpPr>
          <p:cNvPr id="2" name="Google Shape;50;p3">
            <a:extLst>
              <a:ext uri="{FF2B5EF4-FFF2-40B4-BE49-F238E27FC236}">
                <a16:creationId xmlns:a16="http://schemas.microsoft.com/office/drawing/2014/main" id="{E2B5B782-5B12-44EC-DE2B-CFD7C0363A0A}"/>
              </a:ext>
            </a:extLst>
          </p:cNvPr>
          <p:cNvGrpSpPr/>
          <p:nvPr/>
        </p:nvGrpSpPr>
        <p:grpSpPr>
          <a:xfrm>
            <a:off x="2838827" y="3720831"/>
            <a:ext cx="8553420" cy="417183"/>
            <a:chOff x="571500" y="2336175"/>
            <a:chExt cx="5702280" cy="278122"/>
          </a:xfrm>
        </p:grpSpPr>
        <p:sp>
          <p:nvSpPr>
            <p:cNvPr id="3" name="Google Shape;51;p3">
              <a:extLst>
                <a:ext uri="{FF2B5EF4-FFF2-40B4-BE49-F238E27FC236}">
                  <a16:creationId xmlns:a16="http://schemas.microsoft.com/office/drawing/2014/main" id="{EC9CBDC3-46C4-05CD-6DD5-372C3499F721}"/>
                </a:ext>
              </a:extLst>
            </p:cNvPr>
            <p:cNvSpPr/>
            <p:nvPr/>
          </p:nvSpPr>
          <p:spPr>
            <a:xfrm>
              <a:off x="754380" y="2337298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b="1" dirty="0">
                  <a:latin typeface="Arial" panose="020B0604020202020204" pitchFamily="34" charset="0"/>
                  <a:cs typeface="Arial" panose="020B0604020202020204" pitchFamily="34" charset="0"/>
                </a:rPr>
                <a:t>Team</a:t>
              </a:r>
              <a:endParaRPr sz="27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" name="Google Shape;52;p3">
              <a:extLst>
                <a:ext uri="{FF2B5EF4-FFF2-40B4-BE49-F238E27FC236}">
                  <a16:creationId xmlns:a16="http://schemas.microsoft.com/office/drawing/2014/main" id="{C7838699-C280-E980-B759-2787620C175A}"/>
                </a:ext>
              </a:extLst>
            </p:cNvPr>
            <p:cNvSpPr/>
            <p:nvPr/>
          </p:nvSpPr>
          <p:spPr>
            <a:xfrm>
              <a:off x="571500" y="2336175"/>
              <a:ext cx="36000" cy="252000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" name="Google Shape;53;p3">
            <a:extLst>
              <a:ext uri="{FF2B5EF4-FFF2-40B4-BE49-F238E27FC236}">
                <a16:creationId xmlns:a16="http://schemas.microsoft.com/office/drawing/2014/main" id="{45390769-5DBD-5D20-6B29-C7D403F2253D}"/>
              </a:ext>
            </a:extLst>
          </p:cNvPr>
          <p:cNvGrpSpPr/>
          <p:nvPr/>
        </p:nvGrpSpPr>
        <p:grpSpPr>
          <a:xfrm>
            <a:off x="2838827" y="4304447"/>
            <a:ext cx="8553420" cy="417185"/>
            <a:chOff x="571500" y="3764860"/>
            <a:chExt cx="5702280" cy="278123"/>
          </a:xfrm>
        </p:grpSpPr>
        <p:sp>
          <p:nvSpPr>
            <p:cNvPr id="18" name="Google Shape;54;p3">
              <a:extLst>
                <a:ext uri="{FF2B5EF4-FFF2-40B4-BE49-F238E27FC236}">
                  <a16:creationId xmlns:a16="http://schemas.microsoft.com/office/drawing/2014/main" id="{F95E8AB1-C86C-5951-0C0A-796069300F7D}"/>
                </a:ext>
              </a:extLst>
            </p:cNvPr>
            <p:cNvSpPr/>
            <p:nvPr/>
          </p:nvSpPr>
          <p:spPr>
            <a:xfrm>
              <a:off x="754380" y="3765984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Introduction</a:t>
              </a:r>
            </a:p>
          </p:txBody>
        </p:sp>
        <p:sp>
          <p:nvSpPr>
            <p:cNvPr id="19" name="Google Shape;55;p3">
              <a:extLst>
                <a:ext uri="{FF2B5EF4-FFF2-40B4-BE49-F238E27FC236}">
                  <a16:creationId xmlns:a16="http://schemas.microsoft.com/office/drawing/2014/main" id="{89D57B8B-FE06-CC1A-1314-83365C8A16D2}"/>
                </a:ext>
              </a:extLst>
            </p:cNvPr>
            <p:cNvSpPr/>
            <p:nvPr/>
          </p:nvSpPr>
          <p:spPr>
            <a:xfrm>
              <a:off x="571500" y="3764860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" name="Google Shape;53;p3">
            <a:extLst>
              <a:ext uri="{FF2B5EF4-FFF2-40B4-BE49-F238E27FC236}">
                <a16:creationId xmlns:a16="http://schemas.microsoft.com/office/drawing/2014/main" id="{2FD0EABC-52F2-4414-C7E0-16AF5C8B4532}"/>
              </a:ext>
            </a:extLst>
          </p:cNvPr>
          <p:cNvGrpSpPr/>
          <p:nvPr/>
        </p:nvGrpSpPr>
        <p:grpSpPr>
          <a:xfrm>
            <a:off x="2819400" y="4838700"/>
            <a:ext cx="8553420" cy="417185"/>
            <a:chOff x="571500" y="3764860"/>
            <a:chExt cx="5702280" cy="278123"/>
          </a:xfrm>
        </p:grpSpPr>
        <p:sp>
          <p:nvSpPr>
            <p:cNvPr id="27" name="Google Shape;54;p3">
              <a:extLst>
                <a:ext uri="{FF2B5EF4-FFF2-40B4-BE49-F238E27FC236}">
                  <a16:creationId xmlns:a16="http://schemas.microsoft.com/office/drawing/2014/main" id="{C798BA73-F11F-0207-BB46-3A4648622ECF}"/>
                </a:ext>
              </a:extLst>
            </p:cNvPr>
            <p:cNvSpPr/>
            <p:nvPr/>
          </p:nvSpPr>
          <p:spPr>
            <a:xfrm>
              <a:off x="754380" y="3765984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Problem Statement</a:t>
              </a:r>
              <a:endParaRPr lang="en-US" sz="36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28" name="Google Shape;55;p3">
              <a:extLst>
                <a:ext uri="{FF2B5EF4-FFF2-40B4-BE49-F238E27FC236}">
                  <a16:creationId xmlns:a16="http://schemas.microsoft.com/office/drawing/2014/main" id="{17C2752D-50A8-62F0-8AA6-11C8C3B9AFF3}"/>
                </a:ext>
              </a:extLst>
            </p:cNvPr>
            <p:cNvSpPr/>
            <p:nvPr/>
          </p:nvSpPr>
          <p:spPr>
            <a:xfrm>
              <a:off x="571500" y="3764860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" name="Google Shape;59;p3">
            <a:extLst>
              <a:ext uri="{FF2B5EF4-FFF2-40B4-BE49-F238E27FC236}">
                <a16:creationId xmlns:a16="http://schemas.microsoft.com/office/drawing/2014/main" id="{7F7E447A-C5E1-7420-8FBB-3CF4F1A9AD02}"/>
              </a:ext>
            </a:extLst>
          </p:cNvPr>
          <p:cNvGrpSpPr/>
          <p:nvPr/>
        </p:nvGrpSpPr>
        <p:grpSpPr>
          <a:xfrm>
            <a:off x="2819400" y="5372100"/>
            <a:ext cx="8553420" cy="417167"/>
            <a:chOff x="571500" y="5165783"/>
            <a:chExt cx="5702280" cy="278111"/>
          </a:xfrm>
        </p:grpSpPr>
        <p:sp>
          <p:nvSpPr>
            <p:cNvPr id="24" name="Google Shape;60;p3">
              <a:extLst>
                <a:ext uri="{FF2B5EF4-FFF2-40B4-BE49-F238E27FC236}">
                  <a16:creationId xmlns:a16="http://schemas.microsoft.com/office/drawing/2014/main" id="{C343142B-432C-21AC-C3ED-C746402D1775}"/>
                </a:ext>
              </a:extLst>
            </p:cNvPr>
            <p:cNvSpPr/>
            <p:nvPr/>
          </p:nvSpPr>
          <p:spPr>
            <a:xfrm>
              <a:off x="754380" y="5166895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Methodology</a:t>
              </a:r>
              <a:endParaRPr lang="en-US" sz="36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25" name="Google Shape;61;p3">
              <a:extLst>
                <a:ext uri="{FF2B5EF4-FFF2-40B4-BE49-F238E27FC236}">
                  <a16:creationId xmlns:a16="http://schemas.microsoft.com/office/drawing/2014/main" id="{A929D6BB-1C0E-E7E6-0485-DFC4F9631D13}"/>
                </a:ext>
              </a:extLst>
            </p:cNvPr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" name="Google Shape;59;p3">
            <a:extLst>
              <a:ext uri="{FF2B5EF4-FFF2-40B4-BE49-F238E27FC236}">
                <a16:creationId xmlns:a16="http://schemas.microsoft.com/office/drawing/2014/main" id="{6B0CC098-F2B6-F4AB-ACA1-ADA8CE90848D}"/>
              </a:ext>
            </a:extLst>
          </p:cNvPr>
          <p:cNvGrpSpPr/>
          <p:nvPr/>
        </p:nvGrpSpPr>
        <p:grpSpPr>
          <a:xfrm>
            <a:off x="2838827" y="6691517"/>
            <a:ext cx="8553420" cy="417186"/>
            <a:chOff x="571500" y="5165783"/>
            <a:chExt cx="5702280" cy="278124"/>
          </a:xfrm>
        </p:grpSpPr>
        <p:sp>
          <p:nvSpPr>
            <p:cNvPr id="30" name="Google Shape;60;p3">
              <a:extLst>
                <a:ext uri="{FF2B5EF4-FFF2-40B4-BE49-F238E27FC236}">
                  <a16:creationId xmlns:a16="http://schemas.microsoft.com/office/drawing/2014/main" id="{5827A87A-FDAA-039B-8499-A0134E71CC44}"/>
                </a:ext>
              </a:extLst>
            </p:cNvPr>
            <p:cNvSpPr/>
            <p:nvPr/>
          </p:nvSpPr>
          <p:spPr>
            <a:xfrm>
              <a:off x="754380" y="5166909"/>
              <a:ext cx="5519400" cy="2769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Results and Insights</a:t>
              </a:r>
            </a:p>
          </p:txBody>
        </p:sp>
        <p:sp>
          <p:nvSpPr>
            <p:cNvPr id="31" name="Google Shape;61;p3">
              <a:extLst>
                <a:ext uri="{FF2B5EF4-FFF2-40B4-BE49-F238E27FC236}">
                  <a16:creationId xmlns:a16="http://schemas.microsoft.com/office/drawing/2014/main" id="{8C925EB8-49B2-7445-4CD7-4610E9FC10C2}"/>
                </a:ext>
              </a:extLst>
            </p:cNvPr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" name="Google Shape;59;p3">
            <a:extLst>
              <a:ext uri="{FF2B5EF4-FFF2-40B4-BE49-F238E27FC236}">
                <a16:creationId xmlns:a16="http://schemas.microsoft.com/office/drawing/2014/main" id="{D876FA5B-C218-9A6F-8397-0DE31982F5F2}"/>
              </a:ext>
            </a:extLst>
          </p:cNvPr>
          <p:cNvGrpSpPr/>
          <p:nvPr/>
        </p:nvGrpSpPr>
        <p:grpSpPr>
          <a:xfrm>
            <a:off x="2838827" y="7283645"/>
            <a:ext cx="8553420" cy="417183"/>
            <a:chOff x="571500" y="5165783"/>
            <a:chExt cx="5702280" cy="278122"/>
          </a:xfrm>
        </p:grpSpPr>
        <p:sp>
          <p:nvSpPr>
            <p:cNvPr id="33" name="Google Shape;60;p3">
              <a:extLst>
                <a:ext uri="{FF2B5EF4-FFF2-40B4-BE49-F238E27FC236}">
                  <a16:creationId xmlns:a16="http://schemas.microsoft.com/office/drawing/2014/main" id="{5C09F73E-CCE3-EB94-1BF8-3F91767F5498}"/>
                </a:ext>
              </a:extLst>
            </p:cNvPr>
            <p:cNvSpPr/>
            <p:nvPr/>
          </p:nvSpPr>
          <p:spPr>
            <a:xfrm>
              <a:off x="754380" y="5166906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Conclusion</a:t>
              </a:r>
              <a:endParaRPr lang="en-US" sz="36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34" name="Google Shape;61;p3">
              <a:extLst>
                <a:ext uri="{FF2B5EF4-FFF2-40B4-BE49-F238E27FC236}">
                  <a16:creationId xmlns:a16="http://schemas.microsoft.com/office/drawing/2014/main" id="{62729B27-633B-0381-594B-D268770FDC45}"/>
                </a:ext>
              </a:extLst>
            </p:cNvPr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" name="Google Shape;59;p3">
            <a:extLst>
              <a:ext uri="{FF2B5EF4-FFF2-40B4-BE49-F238E27FC236}">
                <a16:creationId xmlns:a16="http://schemas.microsoft.com/office/drawing/2014/main" id="{5BA8E6CA-3E50-9C10-4FDF-72B2CFB555C3}"/>
              </a:ext>
            </a:extLst>
          </p:cNvPr>
          <p:cNvGrpSpPr/>
          <p:nvPr/>
        </p:nvGrpSpPr>
        <p:grpSpPr>
          <a:xfrm>
            <a:off x="2838827" y="7879169"/>
            <a:ext cx="8553420" cy="417185"/>
            <a:chOff x="571500" y="5165783"/>
            <a:chExt cx="5702280" cy="278123"/>
          </a:xfrm>
        </p:grpSpPr>
        <p:sp>
          <p:nvSpPr>
            <p:cNvPr id="36" name="Google Shape;60;p3">
              <a:extLst>
                <a:ext uri="{FF2B5EF4-FFF2-40B4-BE49-F238E27FC236}">
                  <a16:creationId xmlns:a16="http://schemas.microsoft.com/office/drawing/2014/main" id="{983DC240-2142-1D58-B1DF-73232CB9745F}"/>
                </a:ext>
              </a:extLst>
            </p:cNvPr>
            <p:cNvSpPr/>
            <p:nvPr/>
          </p:nvSpPr>
          <p:spPr>
            <a:xfrm>
              <a:off x="754380" y="5166907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Q&amp;A</a:t>
              </a:r>
              <a:endParaRPr lang="en-US" sz="270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37" name="Google Shape;61;p3">
              <a:extLst>
                <a:ext uri="{FF2B5EF4-FFF2-40B4-BE49-F238E27FC236}">
                  <a16:creationId xmlns:a16="http://schemas.microsoft.com/office/drawing/2014/main" id="{3A4624BC-583E-7CE8-CECD-D0FFBABAA10C}"/>
                </a:ext>
              </a:extLst>
            </p:cNvPr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" name="Google Shape;56;p3">
            <a:extLst>
              <a:ext uri="{FF2B5EF4-FFF2-40B4-BE49-F238E27FC236}">
                <a16:creationId xmlns:a16="http://schemas.microsoft.com/office/drawing/2014/main" id="{A7BE938D-83D0-31CC-F469-A384BD411D9E}"/>
              </a:ext>
            </a:extLst>
          </p:cNvPr>
          <p:cNvGrpSpPr/>
          <p:nvPr/>
        </p:nvGrpSpPr>
        <p:grpSpPr>
          <a:xfrm>
            <a:off x="2819400" y="6057900"/>
            <a:ext cx="8553420" cy="417186"/>
            <a:chOff x="571500" y="5165783"/>
            <a:chExt cx="5702280" cy="278124"/>
          </a:xfrm>
        </p:grpSpPr>
        <p:sp>
          <p:nvSpPr>
            <p:cNvPr id="39" name="Google Shape;57;p3">
              <a:extLst>
                <a:ext uri="{FF2B5EF4-FFF2-40B4-BE49-F238E27FC236}">
                  <a16:creationId xmlns:a16="http://schemas.microsoft.com/office/drawing/2014/main" id="{9B7D4C13-7475-82A3-078D-64A6845669B6}"/>
                </a:ext>
              </a:extLst>
            </p:cNvPr>
            <p:cNvSpPr/>
            <p:nvPr/>
          </p:nvSpPr>
          <p:spPr>
            <a:xfrm>
              <a:off x="754380" y="5166908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Key Tasks</a:t>
              </a:r>
            </a:p>
          </p:txBody>
        </p:sp>
        <p:sp>
          <p:nvSpPr>
            <p:cNvPr id="40" name="Google Shape;58;p3">
              <a:extLst>
                <a:ext uri="{FF2B5EF4-FFF2-40B4-BE49-F238E27FC236}">
                  <a16:creationId xmlns:a16="http://schemas.microsoft.com/office/drawing/2014/main" id="{5894D6D0-8127-F992-F67B-EE9DD5979182}"/>
                </a:ext>
              </a:extLst>
            </p:cNvPr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">
          <a:extLst>
            <a:ext uri="{FF2B5EF4-FFF2-40B4-BE49-F238E27FC236}">
              <a16:creationId xmlns:a16="http://schemas.microsoft.com/office/drawing/2014/main" id="{2620E061-1E04-E937-28D8-48D9760F6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">
            <a:extLst>
              <a:ext uri="{FF2B5EF4-FFF2-40B4-BE49-F238E27FC236}">
                <a16:creationId xmlns:a16="http://schemas.microsoft.com/office/drawing/2014/main" id="{B7FA26E7-FDA7-ADB9-93F0-6E49DF8CFEA2}"/>
              </a:ext>
            </a:extLst>
          </p:cNvPr>
          <p:cNvSpPr/>
          <p:nvPr/>
        </p:nvSpPr>
        <p:spPr>
          <a:xfrm>
            <a:off x="3048000" y="1485900"/>
            <a:ext cx="10512900" cy="1138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</a:rPr>
              <a:t>Team members</a:t>
            </a:r>
          </a:p>
          <a:p>
            <a:r>
              <a:rPr lang="en-US" sz="2000" dirty="0">
                <a:solidFill>
                  <a:schemeClr val="bg1"/>
                </a:solidFill>
              </a:rPr>
              <a:t>Team 17 </a:t>
            </a:r>
          </a:p>
        </p:txBody>
      </p:sp>
      <p:cxnSp>
        <p:nvCxnSpPr>
          <p:cNvPr id="41" name="Google Shape;41;p2">
            <a:extLst>
              <a:ext uri="{FF2B5EF4-FFF2-40B4-BE49-F238E27FC236}">
                <a16:creationId xmlns:a16="http://schemas.microsoft.com/office/drawing/2014/main" id="{A883855B-27AE-2218-F891-206E271A01F3}"/>
              </a:ext>
            </a:extLst>
          </p:cNvPr>
          <p:cNvCxnSpPr/>
          <p:nvPr/>
        </p:nvCxnSpPr>
        <p:spPr>
          <a:xfrm flipH="1">
            <a:off x="2685719" y="2806617"/>
            <a:ext cx="15750" cy="431685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Rectangle 3">
            <a:extLst>
              <a:ext uri="{FF2B5EF4-FFF2-40B4-BE49-F238E27FC236}">
                <a16:creationId xmlns:a16="http://schemas.microsoft.com/office/drawing/2014/main" id="{5E57EDB6-841B-6352-DE88-418C6508E8D2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 bwMode="auto">
          <a:xfrm>
            <a:off x="2895600" y="3452457"/>
            <a:ext cx="6389891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5400" dirty="0">
                <a:solidFill>
                  <a:schemeClr val="bg1"/>
                </a:solidFill>
                <a:latin typeface="Arial" panose="020B0604020202020204" pitchFamily="34" charset="0"/>
              </a:rPr>
              <a:t>Youssef Mohamed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5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Hager </a:t>
            </a:r>
            <a:r>
              <a:rPr lang="en-US" altLang="en-US" sz="5400" dirty="0">
                <a:solidFill>
                  <a:schemeClr val="bg1"/>
                </a:solidFill>
                <a:latin typeface="Arial" panose="020B0604020202020204" pitchFamily="34" charset="0"/>
              </a:rPr>
              <a:t>I</a:t>
            </a:r>
            <a:r>
              <a:rPr kumimoji="0" lang="en-US" altLang="en-US" sz="5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braheem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5400" dirty="0">
                <a:solidFill>
                  <a:schemeClr val="bg1"/>
                </a:solidFill>
                <a:latin typeface="Arial" panose="020B0604020202020204" pitchFamily="34" charset="0"/>
              </a:rPr>
              <a:t>Galal Mohamed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5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0355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"/>
          <p:cNvSpPr/>
          <p:nvPr/>
        </p:nvSpPr>
        <p:spPr>
          <a:xfrm>
            <a:off x="2555082" y="1393442"/>
            <a:ext cx="743355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5000" b="1" dirty="0">
                <a:solidFill>
                  <a:schemeClr val="lt1"/>
                </a:solidFill>
              </a:rPr>
              <a:t>Agenda</a:t>
            </a:r>
            <a:endParaRPr sz="5000" b="1" dirty="0">
              <a:solidFill>
                <a:schemeClr val="lt1"/>
              </a:solidFill>
            </a:endParaRPr>
          </a:p>
        </p:txBody>
      </p:sp>
      <p:grpSp>
        <p:nvGrpSpPr>
          <p:cNvPr id="2" name="Google Shape;50;p3">
            <a:extLst>
              <a:ext uri="{FF2B5EF4-FFF2-40B4-BE49-F238E27FC236}">
                <a16:creationId xmlns:a16="http://schemas.microsoft.com/office/drawing/2014/main" id="{E2B5B782-5B12-44EC-DE2B-CFD7C0363A0A}"/>
              </a:ext>
            </a:extLst>
          </p:cNvPr>
          <p:cNvGrpSpPr/>
          <p:nvPr/>
        </p:nvGrpSpPr>
        <p:grpSpPr>
          <a:xfrm>
            <a:off x="2838827" y="3720831"/>
            <a:ext cx="8553420" cy="417183"/>
            <a:chOff x="571500" y="2336175"/>
            <a:chExt cx="5702280" cy="278122"/>
          </a:xfrm>
        </p:grpSpPr>
        <p:sp>
          <p:nvSpPr>
            <p:cNvPr id="3" name="Google Shape;51;p3">
              <a:extLst>
                <a:ext uri="{FF2B5EF4-FFF2-40B4-BE49-F238E27FC236}">
                  <a16:creationId xmlns:a16="http://schemas.microsoft.com/office/drawing/2014/main" id="{EC9CBDC3-46C4-05CD-6DD5-372C3499F721}"/>
                </a:ext>
              </a:extLst>
            </p:cNvPr>
            <p:cNvSpPr/>
            <p:nvPr/>
          </p:nvSpPr>
          <p:spPr>
            <a:xfrm>
              <a:off x="754380" y="2337298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Team</a:t>
              </a:r>
              <a:endParaRPr sz="27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4" name="Google Shape;52;p3">
              <a:extLst>
                <a:ext uri="{FF2B5EF4-FFF2-40B4-BE49-F238E27FC236}">
                  <a16:creationId xmlns:a16="http://schemas.microsoft.com/office/drawing/2014/main" id="{C7838699-C280-E980-B759-2787620C175A}"/>
                </a:ext>
              </a:extLst>
            </p:cNvPr>
            <p:cNvSpPr/>
            <p:nvPr/>
          </p:nvSpPr>
          <p:spPr>
            <a:xfrm>
              <a:off x="571500" y="2336175"/>
              <a:ext cx="36000" cy="252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" name="Google Shape;53;p3">
            <a:extLst>
              <a:ext uri="{FF2B5EF4-FFF2-40B4-BE49-F238E27FC236}">
                <a16:creationId xmlns:a16="http://schemas.microsoft.com/office/drawing/2014/main" id="{45390769-5DBD-5D20-6B29-C7D403F2253D}"/>
              </a:ext>
            </a:extLst>
          </p:cNvPr>
          <p:cNvGrpSpPr/>
          <p:nvPr/>
        </p:nvGrpSpPr>
        <p:grpSpPr>
          <a:xfrm>
            <a:off x="2838827" y="4304447"/>
            <a:ext cx="8553420" cy="417185"/>
            <a:chOff x="571500" y="3764860"/>
            <a:chExt cx="5702280" cy="278123"/>
          </a:xfrm>
        </p:grpSpPr>
        <p:sp>
          <p:nvSpPr>
            <p:cNvPr id="18" name="Google Shape;54;p3">
              <a:extLst>
                <a:ext uri="{FF2B5EF4-FFF2-40B4-BE49-F238E27FC236}">
                  <a16:creationId xmlns:a16="http://schemas.microsoft.com/office/drawing/2014/main" id="{F95E8AB1-C86C-5951-0C0A-796069300F7D}"/>
                </a:ext>
              </a:extLst>
            </p:cNvPr>
            <p:cNvSpPr/>
            <p:nvPr/>
          </p:nvSpPr>
          <p:spPr>
            <a:xfrm>
              <a:off x="754380" y="3765984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b="1" dirty="0">
                  <a:latin typeface="Arial" panose="020B0604020202020204" pitchFamily="34" charset="0"/>
                  <a:cs typeface="Arial" panose="020B0604020202020204" pitchFamily="34" charset="0"/>
                </a:rPr>
                <a:t>Introduction</a:t>
              </a:r>
            </a:p>
          </p:txBody>
        </p:sp>
        <p:sp>
          <p:nvSpPr>
            <p:cNvPr id="19" name="Google Shape;55;p3">
              <a:extLst>
                <a:ext uri="{FF2B5EF4-FFF2-40B4-BE49-F238E27FC236}">
                  <a16:creationId xmlns:a16="http://schemas.microsoft.com/office/drawing/2014/main" id="{89D57B8B-FE06-CC1A-1314-83365C8A16D2}"/>
                </a:ext>
              </a:extLst>
            </p:cNvPr>
            <p:cNvSpPr/>
            <p:nvPr/>
          </p:nvSpPr>
          <p:spPr>
            <a:xfrm>
              <a:off x="571500" y="3764860"/>
              <a:ext cx="36000" cy="2520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" name="Google Shape;53;p3">
            <a:extLst>
              <a:ext uri="{FF2B5EF4-FFF2-40B4-BE49-F238E27FC236}">
                <a16:creationId xmlns:a16="http://schemas.microsoft.com/office/drawing/2014/main" id="{2FD0EABC-52F2-4414-C7E0-16AF5C8B4532}"/>
              </a:ext>
            </a:extLst>
          </p:cNvPr>
          <p:cNvGrpSpPr/>
          <p:nvPr/>
        </p:nvGrpSpPr>
        <p:grpSpPr>
          <a:xfrm>
            <a:off x="2838827" y="4844093"/>
            <a:ext cx="8553420" cy="417185"/>
            <a:chOff x="571500" y="3764860"/>
            <a:chExt cx="5702280" cy="278123"/>
          </a:xfrm>
        </p:grpSpPr>
        <p:sp>
          <p:nvSpPr>
            <p:cNvPr id="27" name="Google Shape;54;p3">
              <a:extLst>
                <a:ext uri="{FF2B5EF4-FFF2-40B4-BE49-F238E27FC236}">
                  <a16:creationId xmlns:a16="http://schemas.microsoft.com/office/drawing/2014/main" id="{C798BA73-F11F-0207-BB46-3A4648622ECF}"/>
                </a:ext>
              </a:extLst>
            </p:cNvPr>
            <p:cNvSpPr/>
            <p:nvPr/>
          </p:nvSpPr>
          <p:spPr>
            <a:xfrm>
              <a:off x="754380" y="3765984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Problem Statement</a:t>
              </a:r>
              <a:endParaRPr lang="en-US" sz="36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28" name="Google Shape;55;p3">
              <a:extLst>
                <a:ext uri="{FF2B5EF4-FFF2-40B4-BE49-F238E27FC236}">
                  <a16:creationId xmlns:a16="http://schemas.microsoft.com/office/drawing/2014/main" id="{17C2752D-50A8-62F0-8AA6-11C8C3B9AFF3}"/>
                </a:ext>
              </a:extLst>
            </p:cNvPr>
            <p:cNvSpPr/>
            <p:nvPr/>
          </p:nvSpPr>
          <p:spPr>
            <a:xfrm>
              <a:off x="571500" y="3764860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" name="Google Shape;59;p3">
            <a:extLst>
              <a:ext uri="{FF2B5EF4-FFF2-40B4-BE49-F238E27FC236}">
                <a16:creationId xmlns:a16="http://schemas.microsoft.com/office/drawing/2014/main" id="{54018E2D-36AB-1EDF-D600-D15897955066}"/>
              </a:ext>
            </a:extLst>
          </p:cNvPr>
          <p:cNvGrpSpPr/>
          <p:nvPr/>
        </p:nvGrpSpPr>
        <p:grpSpPr>
          <a:xfrm>
            <a:off x="2819400" y="5448300"/>
            <a:ext cx="8553420" cy="417167"/>
            <a:chOff x="571500" y="5165783"/>
            <a:chExt cx="5702280" cy="278111"/>
          </a:xfrm>
        </p:grpSpPr>
        <p:sp>
          <p:nvSpPr>
            <p:cNvPr id="24" name="Google Shape;60;p3">
              <a:extLst>
                <a:ext uri="{FF2B5EF4-FFF2-40B4-BE49-F238E27FC236}">
                  <a16:creationId xmlns:a16="http://schemas.microsoft.com/office/drawing/2014/main" id="{C284BEBB-714C-92CC-389B-E04930B213DE}"/>
                </a:ext>
              </a:extLst>
            </p:cNvPr>
            <p:cNvSpPr/>
            <p:nvPr/>
          </p:nvSpPr>
          <p:spPr>
            <a:xfrm>
              <a:off x="754380" y="5166895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Methodology</a:t>
              </a:r>
              <a:endParaRPr lang="en-US" sz="36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25" name="Google Shape;61;p3">
              <a:extLst>
                <a:ext uri="{FF2B5EF4-FFF2-40B4-BE49-F238E27FC236}">
                  <a16:creationId xmlns:a16="http://schemas.microsoft.com/office/drawing/2014/main" id="{394F93CE-FA03-9F84-6741-14F9A46C6D20}"/>
                </a:ext>
              </a:extLst>
            </p:cNvPr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" name="Google Shape;59;p3">
            <a:extLst>
              <a:ext uri="{FF2B5EF4-FFF2-40B4-BE49-F238E27FC236}">
                <a16:creationId xmlns:a16="http://schemas.microsoft.com/office/drawing/2014/main" id="{1BA0F404-A618-BA1C-0C1D-8354EB22E6B7}"/>
              </a:ext>
            </a:extLst>
          </p:cNvPr>
          <p:cNvGrpSpPr/>
          <p:nvPr/>
        </p:nvGrpSpPr>
        <p:grpSpPr>
          <a:xfrm>
            <a:off x="2838827" y="6691517"/>
            <a:ext cx="8553420" cy="417186"/>
            <a:chOff x="571500" y="5165783"/>
            <a:chExt cx="5702280" cy="278124"/>
          </a:xfrm>
        </p:grpSpPr>
        <p:sp>
          <p:nvSpPr>
            <p:cNvPr id="30" name="Google Shape;60;p3">
              <a:extLst>
                <a:ext uri="{FF2B5EF4-FFF2-40B4-BE49-F238E27FC236}">
                  <a16:creationId xmlns:a16="http://schemas.microsoft.com/office/drawing/2014/main" id="{1FA5297E-EA5D-D0DB-126D-6DF8EC831E4D}"/>
                </a:ext>
              </a:extLst>
            </p:cNvPr>
            <p:cNvSpPr/>
            <p:nvPr/>
          </p:nvSpPr>
          <p:spPr>
            <a:xfrm>
              <a:off x="754380" y="5166909"/>
              <a:ext cx="5519400" cy="2769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Results and Insights</a:t>
              </a:r>
            </a:p>
          </p:txBody>
        </p:sp>
        <p:sp>
          <p:nvSpPr>
            <p:cNvPr id="31" name="Google Shape;61;p3">
              <a:extLst>
                <a:ext uri="{FF2B5EF4-FFF2-40B4-BE49-F238E27FC236}">
                  <a16:creationId xmlns:a16="http://schemas.microsoft.com/office/drawing/2014/main" id="{4A19E93E-6108-ED16-243D-B4A0E6FBA9EE}"/>
                </a:ext>
              </a:extLst>
            </p:cNvPr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" name="Google Shape;59;p3">
            <a:extLst>
              <a:ext uri="{FF2B5EF4-FFF2-40B4-BE49-F238E27FC236}">
                <a16:creationId xmlns:a16="http://schemas.microsoft.com/office/drawing/2014/main" id="{F8F1CAE1-CD2D-79C6-CB36-AD0CD87D5F1D}"/>
              </a:ext>
            </a:extLst>
          </p:cNvPr>
          <p:cNvGrpSpPr/>
          <p:nvPr/>
        </p:nvGrpSpPr>
        <p:grpSpPr>
          <a:xfrm>
            <a:off x="2838827" y="7283645"/>
            <a:ext cx="8553420" cy="417183"/>
            <a:chOff x="571500" y="5165783"/>
            <a:chExt cx="5702280" cy="278122"/>
          </a:xfrm>
        </p:grpSpPr>
        <p:sp>
          <p:nvSpPr>
            <p:cNvPr id="33" name="Google Shape;60;p3">
              <a:extLst>
                <a:ext uri="{FF2B5EF4-FFF2-40B4-BE49-F238E27FC236}">
                  <a16:creationId xmlns:a16="http://schemas.microsoft.com/office/drawing/2014/main" id="{29A19AD9-EBB1-813C-D241-45CED0068827}"/>
                </a:ext>
              </a:extLst>
            </p:cNvPr>
            <p:cNvSpPr/>
            <p:nvPr/>
          </p:nvSpPr>
          <p:spPr>
            <a:xfrm>
              <a:off x="754380" y="5166906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Conclusion</a:t>
              </a:r>
              <a:endParaRPr lang="en-US" sz="36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34" name="Google Shape;61;p3">
              <a:extLst>
                <a:ext uri="{FF2B5EF4-FFF2-40B4-BE49-F238E27FC236}">
                  <a16:creationId xmlns:a16="http://schemas.microsoft.com/office/drawing/2014/main" id="{857413E5-FA07-4665-D62C-D834A4A0AB29}"/>
                </a:ext>
              </a:extLst>
            </p:cNvPr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" name="Google Shape;59;p3">
            <a:extLst>
              <a:ext uri="{FF2B5EF4-FFF2-40B4-BE49-F238E27FC236}">
                <a16:creationId xmlns:a16="http://schemas.microsoft.com/office/drawing/2014/main" id="{30107B25-C25E-5ABC-C684-9F31E39AEF21}"/>
              </a:ext>
            </a:extLst>
          </p:cNvPr>
          <p:cNvGrpSpPr/>
          <p:nvPr/>
        </p:nvGrpSpPr>
        <p:grpSpPr>
          <a:xfrm>
            <a:off x="2838827" y="7879169"/>
            <a:ext cx="8553420" cy="417185"/>
            <a:chOff x="571500" y="5165783"/>
            <a:chExt cx="5702280" cy="278123"/>
          </a:xfrm>
        </p:grpSpPr>
        <p:sp>
          <p:nvSpPr>
            <p:cNvPr id="36" name="Google Shape;60;p3">
              <a:extLst>
                <a:ext uri="{FF2B5EF4-FFF2-40B4-BE49-F238E27FC236}">
                  <a16:creationId xmlns:a16="http://schemas.microsoft.com/office/drawing/2014/main" id="{EB90A88A-2C73-1444-72B8-52AE73DCEBA7}"/>
                </a:ext>
              </a:extLst>
            </p:cNvPr>
            <p:cNvSpPr/>
            <p:nvPr/>
          </p:nvSpPr>
          <p:spPr>
            <a:xfrm>
              <a:off x="754380" y="5166907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Q&amp;A</a:t>
              </a:r>
              <a:endParaRPr lang="en-US" sz="270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37" name="Google Shape;61;p3">
              <a:extLst>
                <a:ext uri="{FF2B5EF4-FFF2-40B4-BE49-F238E27FC236}">
                  <a16:creationId xmlns:a16="http://schemas.microsoft.com/office/drawing/2014/main" id="{9760B485-182A-D2A8-45B2-9C1A827E5D71}"/>
                </a:ext>
              </a:extLst>
            </p:cNvPr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" name="Google Shape;56;p3">
            <a:extLst>
              <a:ext uri="{FF2B5EF4-FFF2-40B4-BE49-F238E27FC236}">
                <a16:creationId xmlns:a16="http://schemas.microsoft.com/office/drawing/2014/main" id="{AEF15EDE-AECC-181D-01BA-8D9340B862DA}"/>
              </a:ext>
            </a:extLst>
          </p:cNvPr>
          <p:cNvGrpSpPr/>
          <p:nvPr/>
        </p:nvGrpSpPr>
        <p:grpSpPr>
          <a:xfrm>
            <a:off x="2819400" y="6134100"/>
            <a:ext cx="8553420" cy="417186"/>
            <a:chOff x="571500" y="5165783"/>
            <a:chExt cx="5702280" cy="278124"/>
          </a:xfrm>
        </p:grpSpPr>
        <p:sp>
          <p:nvSpPr>
            <p:cNvPr id="39" name="Google Shape;57;p3">
              <a:extLst>
                <a:ext uri="{FF2B5EF4-FFF2-40B4-BE49-F238E27FC236}">
                  <a16:creationId xmlns:a16="http://schemas.microsoft.com/office/drawing/2014/main" id="{5576E15D-48D3-A62E-5283-2B52E5068A79}"/>
                </a:ext>
              </a:extLst>
            </p:cNvPr>
            <p:cNvSpPr/>
            <p:nvPr/>
          </p:nvSpPr>
          <p:spPr>
            <a:xfrm>
              <a:off x="754380" y="5166908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Key Tasks</a:t>
              </a:r>
            </a:p>
          </p:txBody>
        </p:sp>
        <p:sp>
          <p:nvSpPr>
            <p:cNvPr id="40" name="Google Shape;58;p3">
              <a:extLst>
                <a:ext uri="{FF2B5EF4-FFF2-40B4-BE49-F238E27FC236}">
                  <a16:creationId xmlns:a16="http://schemas.microsoft.com/office/drawing/2014/main" id="{4689994B-7F51-9019-DF8D-4081452D209A}"/>
                </a:ext>
              </a:extLst>
            </p:cNvPr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99088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"/>
          <p:cNvSpPr/>
          <p:nvPr/>
        </p:nvSpPr>
        <p:spPr>
          <a:xfrm>
            <a:off x="3057398" y="2051114"/>
            <a:ext cx="105129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6600" dirty="0">
                <a:solidFill>
                  <a:schemeClr val="lt1"/>
                </a:solidFill>
              </a:rPr>
              <a:t>Introduction</a:t>
            </a:r>
            <a:endParaRPr lang="en-US" sz="2700" dirty="0"/>
          </a:p>
        </p:txBody>
      </p:sp>
      <p:cxnSp>
        <p:nvCxnSpPr>
          <p:cNvPr id="41" name="Google Shape;41;p2"/>
          <p:cNvCxnSpPr/>
          <p:nvPr/>
        </p:nvCxnSpPr>
        <p:spPr>
          <a:xfrm flipH="1">
            <a:off x="2685719" y="2806617"/>
            <a:ext cx="15750" cy="431685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Rectangle 3">
            <a:extLst>
              <a:ext uri="{FF2B5EF4-FFF2-40B4-BE49-F238E27FC236}">
                <a16:creationId xmlns:a16="http://schemas.microsoft.com/office/drawing/2014/main" id="{8CFB1A41-3C84-974A-A19C-51DD2862DADF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 bwMode="auto">
          <a:xfrm>
            <a:off x="2819400" y="3390900"/>
            <a:ext cx="13815320" cy="44873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Retailers operate in fast-changing environments.</a:t>
            </a:r>
          </a:p>
          <a:p>
            <a:r>
              <a:rPr lang="en-US" sz="2800" dirty="0">
                <a:solidFill>
                  <a:schemeClr val="bg1"/>
                </a:solidFill>
              </a:rPr>
              <a:t>Customer demand is affected by multiple factors — the biggest hidden one is WEATHER.</a:t>
            </a:r>
          </a:p>
          <a:p>
            <a:r>
              <a:rPr lang="en-US" sz="2800" dirty="0">
                <a:solidFill>
                  <a:schemeClr val="bg1"/>
                </a:solidFill>
              </a:rPr>
              <a:t>This project builds a big-data platform that integrates NOAA weather records with UK retail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 sales data to understand how temperature, rain, and seasons influence product purchases.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The goal: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          Help retailers make smarter, data-driven decisions instead of relying on guesswork.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"/>
          <p:cNvSpPr/>
          <p:nvPr/>
        </p:nvSpPr>
        <p:spPr>
          <a:xfrm>
            <a:off x="2555082" y="1393442"/>
            <a:ext cx="743355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5000" b="1" dirty="0">
                <a:solidFill>
                  <a:schemeClr val="lt1"/>
                </a:solidFill>
              </a:rPr>
              <a:t>Agenda</a:t>
            </a:r>
            <a:endParaRPr sz="5000" b="1" dirty="0">
              <a:solidFill>
                <a:schemeClr val="lt1"/>
              </a:solidFill>
            </a:endParaRPr>
          </a:p>
        </p:txBody>
      </p:sp>
      <p:grpSp>
        <p:nvGrpSpPr>
          <p:cNvPr id="2" name="Google Shape;50;p3">
            <a:extLst>
              <a:ext uri="{FF2B5EF4-FFF2-40B4-BE49-F238E27FC236}">
                <a16:creationId xmlns:a16="http://schemas.microsoft.com/office/drawing/2014/main" id="{E2B5B782-5B12-44EC-DE2B-CFD7C0363A0A}"/>
              </a:ext>
            </a:extLst>
          </p:cNvPr>
          <p:cNvGrpSpPr/>
          <p:nvPr/>
        </p:nvGrpSpPr>
        <p:grpSpPr>
          <a:xfrm>
            <a:off x="2838827" y="3720831"/>
            <a:ext cx="8553420" cy="417183"/>
            <a:chOff x="571500" y="2336175"/>
            <a:chExt cx="5702280" cy="278122"/>
          </a:xfrm>
        </p:grpSpPr>
        <p:sp>
          <p:nvSpPr>
            <p:cNvPr id="3" name="Google Shape;51;p3">
              <a:extLst>
                <a:ext uri="{FF2B5EF4-FFF2-40B4-BE49-F238E27FC236}">
                  <a16:creationId xmlns:a16="http://schemas.microsoft.com/office/drawing/2014/main" id="{EC9CBDC3-46C4-05CD-6DD5-372C3499F721}"/>
                </a:ext>
              </a:extLst>
            </p:cNvPr>
            <p:cNvSpPr/>
            <p:nvPr/>
          </p:nvSpPr>
          <p:spPr>
            <a:xfrm>
              <a:off x="754380" y="2337298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Team</a:t>
              </a:r>
              <a:endParaRPr sz="27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" name="Google Shape;52;p3">
              <a:extLst>
                <a:ext uri="{FF2B5EF4-FFF2-40B4-BE49-F238E27FC236}">
                  <a16:creationId xmlns:a16="http://schemas.microsoft.com/office/drawing/2014/main" id="{C7838699-C280-E980-B759-2787620C175A}"/>
                </a:ext>
              </a:extLst>
            </p:cNvPr>
            <p:cNvSpPr/>
            <p:nvPr/>
          </p:nvSpPr>
          <p:spPr>
            <a:xfrm>
              <a:off x="571500" y="2336175"/>
              <a:ext cx="36000" cy="252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" name="Google Shape;53;p3">
            <a:extLst>
              <a:ext uri="{FF2B5EF4-FFF2-40B4-BE49-F238E27FC236}">
                <a16:creationId xmlns:a16="http://schemas.microsoft.com/office/drawing/2014/main" id="{45390769-5DBD-5D20-6B29-C7D403F2253D}"/>
              </a:ext>
            </a:extLst>
          </p:cNvPr>
          <p:cNvGrpSpPr/>
          <p:nvPr/>
        </p:nvGrpSpPr>
        <p:grpSpPr>
          <a:xfrm>
            <a:off x="2838827" y="4304447"/>
            <a:ext cx="8553420" cy="417185"/>
            <a:chOff x="571500" y="3764860"/>
            <a:chExt cx="5702280" cy="278123"/>
          </a:xfrm>
        </p:grpSpPr>
        <p:sp>
          <p:nvSpPr>
            <p:cNvPr id="18" name="Google Shape;54;p3">
              <a:extLst>
                <a:ext uri="{FF2B5EF4-FFF2-40B4-BE49-F238E27FC236}">
                  <a16:creationId xmlns:a16="http://schemas.microsoft.com/office/drawing/2014/main" id="{F95E8AB1-C86C-5951-0C0A-796069300F7D}"/>
                </a:ext>
              </a:extLst>
            </p:cNvPr>
            <p:cNvSpPr/>
            <p:nvPr/>
          </p:nvSpPr>
          <p:spPr>
            <a:xfrm>
              <a:off x="754380" y="3765984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Introduction</a:t>
              </a:r>
            </a:p>
          </p:txBody>
        </p:sp>
        <p:sp>
          <p:nvSpPr>
            <p:cNvPr id="19" name="Google Shape;55;p3">
              <a:extLst>
                <a:ext uri="{FF2B5EF4-FFF2-40B4-BE49-F238E27FC236}">
                  <a16:creationId xmlns:a16="http://schemas.microsoft.com/office/drawing/2014/main" id="{89D57B8B-FE06-CC1A-1314-83365C8A16D2}"/>
                </a:ext>
              </a:extLst>
            </p:cNvPr>
            <p:cNvSpPr/>
            <p:nvPr/>
          </p:nvSpPr>
          <p:spPr>
            <a:xfrm>
              <a:off x="571500" y="3764860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" name="Google Shape;53;p3">
            <a:extLst>
              <a:ext uri="{FF2B5EF4-FFF2-40B4-BE49-F238E27FC236}">
                <a16:creationId xmlns:a16="http://schemas.microsoft.com/office/drawing/2014/main" id="{2FD0EABC-52F2-4414-C7E0-16AF5C8B4532}"/>
              </a:ext>
            </a:extLst>
          </p:cNvPr>
          <p:cNvGrpSpPr/>
          <p:nvPr/>
        </p:nvGrpSpPr>
        <p:grpSpPr>
          <a:xfrm>
            <a:off x="2838827" y="4844093"/>
            <a:ext cx="8553420" cy="417185"/>
            <a:chOff x="571500" y="3764860"/>
            <a:chExt cx="5702280" cy="278123"/>
          </a:xfrm>
        </p:grpSpPr>
        <p:sp>
          <p:nvSpPr>
            <p:cNvPr id="27" name="Google Shape;54;p3">
              <a:extLst>
                <a:ext uri="{FF2B5EF4-FFF2-40B4-BE49-F238E27FC236}">
                  <a16:creationId xmlns:a16="http://schemas.microsoft.com/office/drawing/2014/main" id="{C798BA73-F11F-0207-BB46-3A4648622ECF}"/>
                </a:ext>
              </a:extLst>
            </p:cNvPr>
            <p:cNvSpPr/>
            <p:nvPr/>
          </p:nvSpPr>
          <p:spPr>
            <a:xfrm>
              <a:off x="754380" y="3765984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b="1" dirty="0">
                  <a:latin typeface="Arial" panose="020B0604020202020204" pitchFamily="34" charset="0"/>
                  <a:cs typeface="Arial" panose="020B0604020202020204" pitchFamily="34" charset="0"/>
                </a:rPr>
                <a:t>Problem Statement</a:t>
              </a:r>
              <a:endParaRPr lang="en-US" sz="3600" b="1" dirty="0"/>
            </a:p>
          </p:txBody>
        </p:sp>
        <p:sp>
          <p:nvSpPr>
            <p:cNvPr id="28" name="Google Shape;55;p3">
              <a:extLst>
                <a:ext uri="{FF2B5EF4-FFF2-40B4-BE49-F238E27FC236}">
                  <a16:creationId xmlns:a16="http://schemas.microsoft.com/office/drawing/2014/main" id="{17C2752D-50A8-62F0-8AA6-11C8C3B9AFF3}"/>
                </a:ext>
              </a:extLst>
            </p:cNvPr>
            <p:cNvSpPr/>
            <p:nvPr/>
          </p:nvSpPr>
          <p:spPr>
            <a:xfrm>
              <a:off x="571500" y="3764860"/>
              <a:ext cx="36000" cy="252000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" name="Google Shape;59;p3">
            <a:extLst>
              <a:ext uri="{FF2B5EF4-FFF2-40B4-BE49-F238E27FC236}">
                <a16:creationId xmlns:a16="http://schemas.microsoft.com/office/drawing/2014/main" id="{85E349D9-A193-F0B4-178E-3B608030D164}"/>
              </a:ext>
            </a:extLst>
          </p:cNvPr>
          <p:cNvGrpSpPr/>
          <p:nvPr/>
        </p:nvGrpSpPr>
        <p:grpSpPr>
          <a:xfrm>
            <a:off x="2838827" y="6060863"/>
            <a:ext cx="8553420" cy="417167"/>
            <a:chOff x="571500" y="5165783"/>
            <a:chExt cx="5702280" cy="278111"/>
          </a:xfrm>
        </p:grpSpPr>
        <p:sp>
          <p:nvSpPr>
            <p:cNvPr id="42" name="Google Shape;60;p3">
              <a:extLst>
                <a:ext uri="{FF2B5EF4-FFF2-40B4-BE49-F238E27FC236}">
                  <a16:creationId xmlns:a16="http://schemas.microsoft.com/office/drawing/2014/main" id="{EFFC4856-B028-838B-CC8D-3EF685ED7D61}"/>
                </a:ext>
              </a:extLst>
            </p:cNvPr>
            <p:cNvSpPr/>
            <p:nvPr/>
          </p:nvSpPr>
          <p:spPr>
            <a:xfrm>
              <a:off x="754380" y="5166895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Methodology</a:t>
              </a:r>
              <a:endParaRPr lang="en-US" sz="36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43" name="Google Shape;61;p3">
              <a:extLst>
                <a:ext uri="{FF2B5EF4-FFF2-40B4-BE49-F238E27FC236}">
                  <a16:creationId xmlns:a16="http://schemas.microsoft.com/office/drawing/2014/main" id="{89CD6F7D-5AF4-EFA3-BD31-0DD92052428C}"/>
                </a:ext>
              </a:extLst>
            </p:cNvPr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" name="Google Shape;59;p3">
            <a:extLst>
              <a:ext uri="{FF2B5EF4-FFF2-40B4-BE49-F238E27FC236}">
                <a16:creationId xmlns:a16="http://schemas.microsoft.com/office/drawing/2014/main" id="{EA2AD48F-33F1-D423-8B43-A2B9E6186B50}"/>
              </a:ext>
            </a:extLst>
          </p:cNvPr>
          <p:cNvGrpSpPr/>
          <p:nvPr/>
        </p:nvGrpSpPr>
        <p:grpSpPr>
          <a:xfrm>
            <a:off x="2838827" y="6691517"/>
            <a:ext cx="8553420" cy="417186"/>
            <a:chOff x="571500" y="5165783"/>
            <a:chExt cx="5702280" cy="278124"/>
          </a:xfrm>
        </p:grpSpPr>
        <p:sp>
          <p:nvSpPr>
            <p:cNvPr id="45" name="Google Shape;60;p3">
              <a:extLst>
                <a:ext uri="{FF2B5EF4-FFF2-40B4-BE49-F238E27FC236}">
                  <a16:creationId xmlns:a16="http://schemas.microsoft.com/office/drawing/2014/main" id="{02D5BB92-6829-58A4-14C4-CC2E1C38E7BA}"/>
                </a:ext>
              </a:extLst>
            </p:cNvPr>
            <p:cNvSpPr/>
            <p:nvPr/>
          </p:nvSpPr>
          <p:spPr>
            <a:xfrm>
              <a:off x="754380" y="5166909"/>
              <a:ext cx="5519400" cy="2769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Results and Insights</a:t>
              </a:r>
            </a:p>
          </p:txBody>
        </p:sp>
        <p:sp>
          <p:nvSpPr>
            <p:cNvPr id="46" name="Google Shape;61;p3">
              <a:extLst>
                <a:ext uri="{FF2B5EF4-FFF2-40B4-BE49-F238E27FC236}">
                  <a16:creationId xmlns:a16="http://schemas.microsoft.com/office/drawing/2014/main" id="{4DBAE548-F2FA-0118-D8D8-7A4374A59639}"/>
                </a:ext>
              </a:extLst>
            </p:cNvPr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" name="Google Shape;59;p3">
            <a:extLst>
              <a:ext uri="{FF2B5EF4-FFF2-40B4-BE49-F238E27FC236}">
                <a16:creationId xmlns:a16="http://schemas.microsoft.com/office/drawing/2014/main" id="{27BE83FF-282E-B11E-237A-CEC6525324D2}"/>
              </a:ext>
            </a:extLst>
          </p:cNvPr>
          <p:cNvGrpSpPr/>
          <p:nvPr/>
        </p:nvGrpSpPr>
        <p:grpSpPr>
          <a:xfrm>
            <a:off x="2838827" y="7283645"/>
            <a:ext cx="8553420" cy="417183"/>
            <a:chOff x="571500" y="5165783"/>
            <a:chExt cx="5702280" cy="278122"/>
          </a:xfrm>
        </p:grpSpPr>
        <p:sp>
          <p:nvSpPr>
            <p:cNvPr id="49" name="Google Shape;60;p3">
              <a:extLst>
                <a:ext uri="{FF2B5EF4-FFF2-40B4-BE49-F238E27FC236}">
                  <a16:creationId xmlns:a16="http://schemas.microsoft.com/office/drawing/2014/main" id="{9308C891-F45F-3040-CFCF-C3E87DE5FE00}"/>
                </a:ext>
              </a:extLst>
            </p:cNvPr>
            <p:cNvSpPr/>
            <p:nvPr/>
          </p:nvSpPr>
          <p:spPr>
            <a:xfrm>
              <a:off x="754380" y="5166906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Conclusion</a:t>
              </a:r>
              <a:endParaRPr lang="en-US" sz="36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50" name="Google Shape;61;p3">
              <a:extLst>
                <a:ext uri="{FF2B5EF4-FFF2-40B4-BE49-F238E27FC236}">
                  <a16:creationId xmlns:a16="http://schemas.microsoft.com/office/drawing/2014/main" id="{A41658F1-DA9B-77CA-EFB1-58FA37D2F873}"/>
                </a:ext>
              </a:extLst>
            </p:cNvPr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" name="Google Shape;59;p3">
            <a:extLst>
              <a:ext uri="{FF2B5EF4-FFF2-40B4-BE49-F238E27FC236}">
                <a16:creationId xmlns:a16="http://schemas.microsoft.com/office/drawing/2014/main" id="{F39646BC-47E1-D10A-F074-2B3D26B42E27}"/>
              </a:ext>
            </a:extLst>
          </p:cNvPr>
          <p:cNvGrpSpPr/>
          <p:nvPr/>
        </p:nvGrpSpPr>
        <p:grpSpPr>
          <a:xfrm>
            <a:off x="2838827" y="7879169"/>
            <a:ext cx="8553420" cy="417185"/>
            <a:chOff x="571500" y="5165783"/>
            <a:chExt cx="5702280" cy="278123"/>
          </a:xfrm>
        </p:grpSpPr>
        <p:sp>
          <p:nvSpPr>
            <p:cNvPr id="52" name="Google Shape;60;p3">
              <a:extLst>
                <a:ext uri="{FF2B5EF4-FFF2-40B4-BE49-F238E27FC236}">
                  <a16:creationId xmlns:a16="http://schemas.microsoft.com/office/drawing/2014/main" id="{1559F5DA-B18D-651C-52F0-64E602F05161}"/>
                </a:ext>
              </a:extLst>
            </p:cNvPr>
            <p:cNvSpPr/>
            <p:nvPr/>
          </p:nvSpPr>
          <p:spPr>
            <a:xfrm>
              <a:off x="754380" y="5166907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Q&amp;A</a:t>
              </a:r>
              <a:endParaRPr lang="en-US" sz="270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53" name="Google Shape;61;p3">
              <a:extLst>
                <a:ext uri="{FF2B5EF4-FFF2-40B4-BE49-F238E27FC236}">
                  <a16:creationId xmlns:a16="http://schemas.microsoft.com/office/drawing/2014/main" id="{3CA93381-05C7-6869-2C6A-D9F9CD9475D2}"/>
                </a:ext>
              </a:extLst>
            </p:cNvPr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4" name="Google Shape;56;p3">
            <a:extLst>
              <a:ext uri="{FF2B5EF4-FFF2-40B4-BE49-F238E27FC236}">
                <a16:creationId xmlns:a16="http://schemas.microsoft.com/office/drawing/2014/main" id="{B16BFB6F-F05C-E902-F780-54F76DE8E1B1}"/>
              </a:ext>
            </a:extLst>
          </p:cNvPr>
          <p:cNvGrpSpPr/>
          <p:nvPr/>
        </p:nvGrpSpPr>
        <p:grpSpPr>
          <a:xfrm>
            <a:off x="2838827" y="5404125"/>
            <a:ext cx="8553420" cy="417186"/>
            <a:chOff x="571500" y="5165783"/>
            <a:chExt cx="5702280" cy="278124"/>
          </a:xfrm>
        </p:grpSpPr>
        <p:sp>
          <p:nvSpPr>
            <p:cNvPr id="55" name="Google Shape;57;p3">
              <a:extLst>
                <a:ext uri="{FF2B5EF4-FFF2-40B4-BE49-F238E27FC236}">
                  <a16:creationId xmlns:a16="http://schemas.microsoft.com/office/drawing/2014/main" id="{19ED329B-680C-2F4B-91C2-22D9456E29D7}"/>
                </a:ext>
              </a:extLst>
            </p:cNvPr>
            <p:cNvSpPr/>
            <p:nvPr/>
          </p:nvSpPr>
          <p:spPr>
            <a:xfrm>
              <a:off x="754380" y="5166908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Key Tasks</a:t>
              </a:r>
            </a:p>
          </p:txBody>
        </p:sp>
        <p:sp>
          <p:nvSpPr>
            <p:cNvPr id="56" name="Google Shape;58;p3">
              <a:extLst>
                <a:ext uri="{FF2B5EF4-FFF2-40B4-BE49-F238E27FC236}">
                  <a16:creationId xmlns:a16="http://schemas.microsoft.com/office/drawing/2014/main" id="{ED519012-679F-022C-B285-26D9FB5ED4F1}"/>
                </a:ext>
              </a:extLst>
            </p:cNvPr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37380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"/>
          <p:cNvSpPr/>
          <p:nvPr/>
        </p:nvSpPr>
        <p:spPr>
          <a:xfrm>
            <a:off x="3057398" y="2051114"/>
            <a:ext cx="105129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6600" dirty="0">
                <a:solidFill>
                  <a:schemeClr val="lt1"/>
                </a:solidFill>
              </a:rPr>
              <a:t>Problem Statement</a:t>
            </a:r>
            <a:endParaRPr lang="en-US" sz="2700" dirty="0"/>
          </a:p>
        </p:txBody>
      </p:sp>
      <p:cxnSp>
        <p:nvCxnSpPr>
          <p:cNvPr id="41" name="Google Shape;41;p2"/>
          <p:cNvCxnSpPr/>
          <p:nvPr/>
        </p:nvCxnSpPr>
        <p:spPr>
          <a:xfrm flipH="1">
            <a:off x="2667000" y="3314700"/>
            <a:ext cx="15750" cy="431685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FF6FA5-91DD-A826-7B7A-E11778F1D00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895600" y="3417051"/>
            <a:ext cx="12954000" cy="5853113"/>
          </a:xfrm>
        </p:spPr>
        <p:txBody>
          <a:bodyPr>
            <a:normAutofit/>
          </a:bodyPr>
          <a:lstStyle/>
          <a:p>
            <a:r>
              <a:rPr lang="en-US" sz="3100" dirty="0">
                <a:solidFill>
                  <a:schemeClr val="bg1"/>
                </a:solidFill>
              </a:rPr>
              <a:t>Retail chains face three expensive problems:</a:t>
            </a:r>
          </a:p>
          <a:p>
            <a:r>
              <a:rPr lang="en-US" sz="3100" dirty="0">
                <a:solidFill>
                  <a:schemeClr val="bg1"/>
                </a:solidFill>
              </a:rPr>
              <a:t>1️⃣ Stockouts</a:t>
            </a:r>
            <a:br>
              <a:rPr lang="en-US" sz="3100" dirty="0">
                <a:solidFill>
                  <a:schemeClr val="bg1"/>
                </a:solidFill>
              </a:rPr>
            </a:br>
            <a:r>
              <a:rPr lang="en-US" sz="3100" dirty="0">
                <a:solidFill>
                  <a:schemeClr val="bg1"/>
                </a:solidFill>
              </a:rPr>
              <a:t>Hot day? Stores run out of cold drinks </a:t>
            </a:r>
          </a:p>
          <a:p>
            <a:pPr marL="0" indent="0">
              <a:buNone/>
            </a:pPr>
            <a:r>
              <a:rPr lang="en-US" sz="3100" dirty="0">
                <a:solidFill>
                  <a:schemeClr val="bg1"/>
                </a:solidFill>
              </a:rPr>
              <a:t>    Rainy day? They run out of umbrellas.</a:t>
            </a:r>
          </a:p>
          <a:p>
            <a:pPr marL="0" indent="0">
              <a:buNone/>
            </a:pPr>
            <a:r>
              <a:rPr lang="en-US" sz="3100" dirty="0">
                <a:solidFill>
                  <a:schemeClr val="bg1"/>
                </a:solidFill>
              </a:rPr>
              <a:t>    Lost revenue + unhappy customers.</a:t>
            </a:r>
          </a:p>
          <a:p>
            <a:r>
              <a:rPr lang="en-US" sz="3100" dirty="0">
                <a:solidFill>
                  <a:schemeClr val="bg1"/>
                </a:solidFill>
              </a:rPr>
              <a:t>2️⃣ Overstocking</a:t>
            </a:r>
            <a:br>
              <a:rPr lang="en-US" sz="3100" dirty="0">
                <a:solidFill>
                  <a:schemeClr val="bg1"/>
                </a:solidFill>
              </a:rPr>
            </a:br>
            <a:r>
              <a:rPr lang="en-US" sz="3100" dirty="0">
                <a:solidFill>
                  <a:schemeClr val="bg1"/>
                </a:solidFill>
              </a:rPr>
              <a:t>Cold week? Stores overstock cold drinks that don’t sell.</a:t>
            </a:r>
          </a:p>
          <a:p>
            <a:pPr marL="0" indent="0">
              <a:buNone/>
            </a:pPr>
            <a:r>
              <a:rPr lang="en-US" sz="3100" dirty="0">
                <a:solidFill>
                  <a:schemeClr val="bg1"/>
                </a:solidFill>
              </a:rPr>
              <a:t>    → Wasted storage, lost profit, spoiled goods.</a:t>
            </a:r>
          </a:p>
        </p:txBody>
      </p:sp>
    </p:spTree>
    <p:extLst>
      <p:ext uri="{BB962C8B-B14F-4D97-AF65-F5344CB8AC3E}">
        <p14:creationId xmlns:p14="http://schemas.microsoft.com/office/powerpoint/2010/main" val="33392820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">
          <a:extLst>
            <a:ext uri="{FF2B5EF4-FFF2-40B4-BE49-F238E27FC236}">
              <a16:creationId xmlns:a16="http://schemas.microsoft.com/office/drawing/2014/main" id="{0BEE3221-29E8-3E33-6ED9-428FF11E0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">
            <a:extLst>
              <a:ext uri="{FF2B5EF4-FFF2-40B4-BE49-F238E27FC236}">
                <a16:creationId xmlns:a16="http://schemas.microsoft.com/office/drawing/2014/main" id="{BBF52885-679A-F6A8-5BF1-E2746E38438B}"/>
              </a:ext>
            </a:extLst>
          </p:cNvPr>
          <p:cNvSpPr/>
          <p:nvPr/>
        </p:nvSpPr>
        <p:spPr>
          <a:xfrm>
            <a:off x="3057398" y="2051114"/>
            <a:ext cx="105129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6600" dirty="0">
                <a:solidFill>
                  <a:schemeClr val="lt1"/>
                </a:solidFill>
              </a:rPr>
              <a:t>Problem Statement</a:t>
            </a:r>
            <a:endParaRPr lang="en-US" sz="2700" dirty="0"/>
          </a:p>
        </p:txBody>
      </p:sp>
      <p:cxnSp>
        <p:nvCxnSpPr>
          <p:cNvPr id="41" name="Google Shape;41;p2">
            <a:extLst>
              <a:ext uri="{FF2B5EF4-FFF2-40B4-BE49-F238E27FC236}">
                <a16:creationId xmlns:a16="http://schemas.microsoft.com/office/drawing/2014/main" id="{246709DE-ECFF-BADA-A61A-E62C00BEB019}"/>
              </a:ext>
            </a:extLst>
          </p:cNvPr>
          <p:cNvCxnSpPr/>
          <p:nvPr/>
        </p:nvCxnSpPr>
        <p:spPr>
          <a:xfrm flipH="1">
            <a:off x="2667000" y="3314700"/>
            <a:ext cx="15750" cy="431685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D2049D-6F33-7627-2A4E-5C44CB96BD37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057398" y="3467100"/>
            <a:ext cx="12954000" cy="5853113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chemeClr val="bg1"/>
                </a:solidFill>
              </a:rPr>
              <a:t>3️⃣ No real visibility of how weather affects demand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Managers rely on:</a:t>
            </a:r>
          </a:p>
          <a:p>
            <a:pPr marL="800100" lvl="2" indent="0">
              <a:buNone/>
            </a:pPr>
            <a:r>
              <a:rPr lang="en-US" dirty="0">
                <a:solidFill>
                  <a:schemeClr val="bg1"/>
                </a:solidFill>
              </a:rPr>
              <a:t> </a:t>
            </a:r>
          </a:p>
          <a:p>
            <a:pPr marL="800100" lvl="2" indent="0">
              <a:buNone/>
            </a:pPr>
            <a:r>
              <a:rPr lang="en-US" sz="3800" dirty="0">
                <a:solidFill>
                  <a:schemeClr val="bg1"/>
                </a:solidFill>
              </a:rPr>
              <a:t>* Gut feeling</a:t>
            </a:r>
          </a:p>
          <a:p>
            <a:pPr marL="800100" lvl="2" indent="0">
              <a:buNone/>
            </a:pPr>
            <a:r>
              <a:rPr lang="en-US" sz="3800" dirty="0">
                <a:solidFill>
                  <a:schemeClr val="bg1"/>
                </a:solidFill>
              </a:rPr>
              <a:t>* Last week’s sales</a:t>
            </a:r>
          </a:p>
          <a:p>
            <a:pPr marL="800100" lvl="2" indent="0">
              <a:buNone/>
            </a:pPr>
            <a:r>
              <a:rPr lang="en-US" sz="3800" dirty="0">
                <a:solidFill>
                  <a:schemeClr val="bg1"/>
                </a:solidFill>
              </a:rPr>
              <a:t>* Manual Excel trends</a:t>
            </a:r>
          </a:p>
          <a:p>
            <a:pPr marL="800100" lvl="2" indent="0">
              <a:buNone/>
            </a:pPr>
            <a:r>
              <a:rPr lang="en-US" sz="3800" dirty="0">
                <a:solidFill>
                  <a:schemeClr val="bg1"/>
                </a:solidFill>
              </a:rPr>
              <a:t> </a:t>
            </a:r>
          </a:p>
          <a:p>
            <a:pPr marL="800100" lvl="2" indent="0">
              <a:buNone/>
            </a:pPr>
            <a:r>
              <a:rPr lang="en-US" sz="3800" dirty="0">
                <a:solidFill>
                  <a:schemeClr val="bg1"/>
                </a:solidFill>
              </a:rPr>
              <a:t>They cannot manually connect millions of sales rows with millions of weather observations.</a:t>
            </a:r>
          </a:p>
          <a:p>
            <a:pPr marL="800100" lvl="2" indent="0">
              <a:buNone/>
            </a:pPr>
            <a:r>
              <a:rPr lang="en-US" sz="3800" dirty="0">
                <a:solidFill>
                  <a:schemeClr val="bg1"/>
                </a:solidFill>
              </a:rPr>
              <a:t> </a:t>
            </a:r>
          </a:p>
          <a:p>
            <a:pPr marL="800100" lvl="2" indent="0">
              <a:buNone/>
            </a:pPr>
            <a:r>
              <a:rPr lang="en-US" sz="3800" dirty="0">
                <a:solidFill>
                  <a:schemeClr val="bg1"/>
                </a:solidFill>
              </a:rPr>
              <a:t>This is a big data problem.</a:t>
            </a:r>
          </a:p>
          <a:p>
            <a:endParaRPr 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45160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">
          <a:extLst>
            <a:ext uri="{FF2B5EF4-FFF2-40B4-BE49-F238E27FC236}">
              <a16:creationId xmlns:a16="http://schemas.microsoft.com/office/drawing/2014/main" id="{F446C2C9-35F1-709C-3092-EA6E43BB3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">
            <a:extLst>
              <a:ext uri="{FF2B5EF4-FFF2-40B4-BE49-F238E27FC236}">
                <a16:creationId xmlns:a16="http://schemas.microsoft.com/office/drawing/2014/main" id="{32DD84D5-CF7F-08B3-506D-FB93DC710C3E}"/>
              </a:ext>
            </a:extLst>
          </p:cNvPr>
          <p:cNvSpPr/>
          <p:nvPr/>
        </p:nvSpPr>
        <p:spPr>
          <a:xfrm>
            <a:off x="3057398" y="2051114"/>
            <a:ext cx="105129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6600" dirty="0">
                <a:solidFill>
                  <a:schemeClr val="bg1"/>
                </a:solidFill>
              </a:rPr>
              <a:t>Why Big Data?</a:t>
            </a:r>
            <a:endParaRPr lang="en-US" sz="8000" dirty="0">
              <a:solidFill>
                <a:schemeClr val="bg1"/>
              </a:solidFill>
            </a:endParaRPr>
          </a:p>
        </p:txBody>
      </p:sp>
      <p:cxnSp>
        <p:nvCxnSpPr>
          <p:cNvPr id="41" name="Google Shape;41;p2">
            <a:extLst>
              <a:ext uri="{FF2B5EF4-FFF2-40B4-BE49-F238E27FC236}">
                <a16:creationId xmlns:a16="http://schemas.microsoft.com/office/drawing/2014/main" id="{E32C6428-FCEF-9F48-8FA3-762B5B51513C}"/>
              </a:ext>
            </a:extLst>
          </p:cNvPr>
          <p:cNvCxnSpPr/>
          <p:nvPr/>
        </p:nvCxnSpPr>
        <p:spPr>
          <a:xfrm flipH="1">
            <a:off x="2667000" y="3314700"/>
            <a:ext cx="15750" cy="431685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" name="Rectangle 2">
            <a:extLst>
              <a:ext uri="{FF2B5EF4-FFF2-40B4-BE49-F238E27FC236}">
                <a16:creationId xmlns:a16="http://schemas.microsoft.com/office/drawing/2014/main" id="{AF357608-CFA8-6846-B697-F07D101EFE84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 bwMode="auto">
          <a:xfrm>
            <a:off x="2954303" y="3703410"/>
            <a:ext cx="6136680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The datasets are large and complex: </a:t>
            </a:r>
          </a:p>
          <a:p>
            <a:r>
              <a:rPr lang="en-US" sz="2800" dirty="0">
                <a:solidFill>
                  <a:schemeClr val="bg1"/>
                </a:solidFill>
              </a:rPr>
              <a:t>Retail Data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 Millions of product price observations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    Across many supermarkets &amp; cities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    120k+ unique products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    50M+ total sales value</a:t>
            </a:r>
          </a:p>
          <a:p>
            <a:pPr marL="0" indent="0">
              <a:buNone/>
            </a:pP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134FB1E1-47CA-0D92-403D-3696F9D730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29800" y="3066777"/>
            <a:ext cx="7714420" cy="49182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Weather Data (NOAA GHCN Daily)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Millions of daily observations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Multiple weather stations</a:t>
            </a:r>
          </a:p>
          <a:p>
            <a:pPr marL="0" indent="0">
              <a:buFont typeface="Arial" pitchFamily="34" charset="0"/>
              <a:buNone/>
            </a:pPr>
            <a:r>
              <a:rPr lang="en-US" sz="2800" dirty="0">
                <a:solidFill>
                  <a:schemeClr val="bg1"/>
                </a:solidFill>
              </a:rPr>
              <a:t>    Dozens of features per day (TMAX, TMIN, PRCP…)</a:t>
            </a:r>
          </a:p>
          <a:p>
            <a:pPr marL="0" indent="0">
              <a:buFont typeface="Arial" pitchFamily="34" charset="0"/>
              <a:buNone/>
            </a:pPr>
            <a:r>
              <a:rPr lang="en-US" sz="2800" dirty="0">
                <a:solidFill>
                  <a:schemeClr val="bg1"/>
                </a:solidFill>
              </a:rPr>
              <a:t>    Needs heavy parsing, pivoting, enrichment</a:t>
            </a:r>
          </a:p>
          <a:p>
            <a:pPr marL="0" indent="0">
              <a:buFont typeface="Arial" pitchFamily="34" charset="0"/>
              <a:buNone/>
            </a:pPr>
            <a:r>
              <a:rPr lang="en-US" sz="2800" dirty="0">
                <a:solidFill>
                  <a:schemeClr val="bg1"/>
                </a:solidFill>
              </a:rPr>
              <a:t> </a:t>
            </a:r>
          </a:p>
          <a:p>
            <a:r>
              <a:rPr lang="en-US" sz="2800" dirty="0">
                <a:solidFill>
                  <a:schemeClr val="bg1"/>
                </a:solidFill>
              </a:rPr>
              <a:t>Traditional Excel / SQL is not enough.</a:t>
            </a:r>
          </a:p>
          <a:p>
            <a:r>
              <a:rPr lang="en-US" sz="2800" dirty="0">
                <a:solidFill>
                  <a:schemeClr val="bg1"/>
                </a:solidFill>
              </a:rPr>
              <a:t>A distributed big data platform is needed.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8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04608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">
          <a:extLst>
            <a:ext uri="{FF2B5EF4-FFF2-40B4-BE49-F238E27FC236}">
              <a16:creationId xmlns:a16="http://schemas.microsoft.com/office/drawing/2014/main" id="{B0597855-5650-8DAE-C51B-83CB26EB7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">
            <a:extLst>
              <a:ext uri="{FF2B5EF4-FFF2-40B4-BE49-F238E27FC236}">
                <a16:creationId xmlns:a16="http://schemas.microsoft.com/office/drawing/2014/main" id="{7338F3C5-13C3-7C31-BA93-8A0EF82CD18E}"/>
              </a:ext>
            </a:extLst>
          </p:cNvPr>
          <p:cNvSpPr/>
          <p:nvPr/>
        </p:nvSpPr>
        <p:spPr>
          <a:xfrm>
            <a:off x="3057398" y="2051114"/>
            <a:ext cx="105129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6600" dirty="0">
                <a:solidFill>
                  <a:schemeClr val="bg1"/>
                </a:solidFill>
              </a:rPr>
              <a:t>Methodology</a:t>
            </a:r>
            <a:endParaRPr lang="en-US" sz="8000" dirty="0">
              <a:solidFill>
                <a:schemeClr val="bg1"/>
              </a:solidFill>
            </a:endParaRPr>
          </a:p>
        </p:txBody>
      </p:sp>
      <p:cxnSp>
        <p:nvCxnSpPr>
          <p:cNvPr id="41" name="Google Shape;41;p2">
            <a:extLst>
              <a:ext uri="{FF2B5EF4-FFF2-40B4-BE49-F238E27FC236}">
                <a16:creationId xmlns:a16="http://schemas.microsoft.com/office/drawing/2014/main" id="{B28EC67E-3AC6-5BF3-7AB5-002D91B1B7AA}"/>
              </a:ext>
            </a:extLst>
          </p:cNvPr>
          <p:cNvCxnSpPr/>
          <p:nvPr/>
        </p:nvCxnSpPr>
        <p:spPr>
          <a:xfrm flipH="1">
            <a:off x="2667000" y="3314700"/>
            <a:ext cx="15750" cy="431685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A1B86DC-41AD-90FB-8357-6EEF3108DEAF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 bwMode="auto">
          <a:xfrm>
            <a:off x="2943379" y="3066777"/>
            <a:ext cx="12401242" cy="56692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Our approach:</a:t>
            </a:r>
          </a:p>
          <a:p>
            <a:pPr marL="0" indent="0">
              <a:buNone/>
            </a:pPr>
            <a:endParaRPr lang="en-US" sz="2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1. Ingest raw data using </a:t>
            </a:r>
            <a:r>
              <a:rPr lang="en-US" sz="2800" dirty="0" err="1">
                <a:solidFill>
                  <a:schemeClr val="bg1"/>
                </a:solidFill>
              </a:rPr>
              <a:t>NiFi</a:t>
            </a:r>
            <a:endParaRPr lang="en-US" sz="2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2. Store raw data in HDFS (Data Lake)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3. Transform + Clean using Apache Spark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4. Model Data using a Star Schema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5. Load into Snowflake Data Warehouse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6. Visualize insights in a dynamic Dashboard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 </a:t>
            </a:r>
          </a:p>
          <a:p>
            <a:r>
              <a:rPr lang="en-US" sz="2800" dirty="0">
                <a:solidFill>
                  <a:schemeClr val="bg1"/>
                </a:solidFill>
              </a:rPr>
              <a:t>Each tool was selected because it solves a specific business &amp; technical need.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01513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D429D0-207E-DE00-E1DD-1920A18FAE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200" y="-1"/>
            <a:ext cx="18364200" cy="10139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4443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">
          <a:extLst>
            <a:ext uri="{FF2B5EF4-FFF2-40B4-BE49-F238E27FC236}">
              <a16:creationId xmlns:a16="http://schemas.microsoft.com/office/drawing/2014/main" id="{89094B99-03DA-1DE4-4B7E-8CB4AF94E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">
            <a:extLst>
              <a:ext uri="{FF2B5EF4-FFF2-40B4-BE49-F238E27FC236}">
                <a16:creationId xmlns:a16="http://schemas.microsoft.com/office/drawing/2014/main" id="{4FC890A2-6858-5CA4-41E4-D27D7BFCB5A0}"/>
              </a:ext>
            </a:extLst>
          </p:cNvPr>
          <p:cNvSpPr/>
          <p:nvPr/>
        </p:nvSpPr>
        <p:spPr>
          <a:xfrm>
            <a:off x="1295400" y="952500"/>
            <a:ext cx="14557016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6000" dirty="0">
                <a:solidFill>
                  <a:schemeClr val="bg1"/>
                </a:solidFill>
              </a:rPr>
              <a:t>Why </a:t>
            </a:r>
            <a:r>
              <a:rPr lang="en-US" sz="6000" dirty="0" err="1">
                <a:solidFill>
                  <a:schemeClr val="bg1"/>
                </a:solidFill>
              </a:rPr>
              <a:t>NiFi</a:t>
            </a:r>
            <a:r>
              <a:rPr lang="en-US" sz="6000" dirty="0">
                <a:solidFill>
                  <a:schemeClr val="bg1"/>
                </a:solidFill>
              </a:rPr>
              <a:t> for Ingestion? (Business Justification)</a:t>
            </a:r>
            <a:endParaRPr lang="en-US" sz="19900" dirty="0">
              <a:solidFill>
                <a:schemeClr val="bg1"/>
              </a:solidFill>
            </a:endParaRPr>
          </a:p>
        </p:txBody>
      </p:sp>
      <p:cxnSp>
        <p:nvCxnSpPr>
          <p:cNvPr id="41" name="Google Shape;41;p2">
            <a:extLst>
              <a:ext uri="{FF2B5EF4-FFF2-40B4-BE49-F238E27FC236}">
                <a16:creationId xmlns:a16="http://schemas.microsoft.com/office/drawing/2014/main" id="{4394F703-97CA-8BD5-5E67-ACDC00F71246}"/>
              </a:ext>
            </a:extLst>
          </p:cNvPr>
          <p:cNvCxnSpPr/>
          <p:nvPr/>
        </p:nvCxnSpPr>
        <p:spPr>
          <a:xfrm flipH="1">
            <a:off x="1447800" y="2985075"/>
            <a:ext cx="15750" cy="431685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" name="Rectangle 3">
            <a:extLst>
              <a:ext uri="{FF2B5EF4-FFF2-40B4-BE49-F238E27FC236}">
                <a16:creationId xmlns:a16="http://schemas.microsoft.com/office/drawing/2014/main" id="{31280490-FBC9-C104-8B46-559F42E6C147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 bwMode="auto">
          <a:xfrm>
            <a:off x="1463550" y="2453836"/>
            <a:ext cx="7953751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Business Need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Retailers receive data from many sources: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    They need a reliable ingestion layer that: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          1.Automates data loading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          2.Handles multiple formats (CSV, Parquet, TXT)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          3.Tracks and monitors data flows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          4.Ensures consistency and reproducibility</a:t>
            </a:r>
          </a:p>
          <a:p>
            <a:pPr marL="0" indent="0">
              <a:buNone/>
            </a:pPr>
            <a:endParaRPr kumimoji="0" lang="en-US" altLang="en-US" sz="2800" b="0" i="0" u="none" strike="noStrike" cap="none" normalizeH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4DB2E4DC-21E6-DB52-7FAB-3E619AA072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2841164"/>
            <a:ext cx="8518651" cy="42042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chemeClr val="bg1"/>
                </a:solidFill>
              </a:rPr>
              <a:t>Why </a:t>
            </a:r>
            <a:r>
              <a:rPr lang="en-US" sz="2800" dirty="0" err="1">
                <a:solidFill>
                  <a:schemeClr val="bg1"/>
                </a:solidFill>
              </a:rPr>
              <a:t>NiFi</a:t>
            </a:r>
            <a:r>
              <a:rPr lang="en-US" sz="2800" dirty="0">
                <a:solidFill>
                  <a:schemeClr val="bg1"/>
                </a:solidFill>
              </a:rPr>
              <a:t> Was the Perfect Choice</a:t>
            </a:r>
            <a:endParaRPr lang="en-US" sz="2000" dirty="0">
              <a:solidFill>
                <a:schemeClr val="bg1"/>
              </a:solidFill>
            </a:endParaRPr>
          </a:p>
          <a:p>
            <a:pPr marL="400050" lvl="1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 Built for data movement and flow automation</a:t>
            </a:r>
            <a:endParaRPr lang="en-US" sz="2000" dirty="0">
              <a:solidFill>
                <a:schemeClr val="bg1"/>
              </a:solidFill>
            </a:endParaRPr>
          </a:p>
          <a:p>
            <a:pPr marL="400050" lvl="1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 Visual UI → easier for teams to maintain</a:t>
            </a:r>
            <a:endParaRPr lang="en-US" sz="2000" dirty="0">
              <a:solidFill>
                <a:schemeClr val="bg1"/>
              </a:solidFill>
            </a:endParaRPr>
          </a:p>
          <a:p>
            <a:pPr marL="400050" lvl="1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 Can write directly to HDFS</a:t>
            </a:r>
            <a:endParaRPr lang="en-US" sz="2000" dirty="0">
              <a:solidFill>
                <a:schemeClr val="bg1"/>
              </a:solidFill>
            </a:endParaRPr>
          </a:p>
          <a:p>
            <a:pPr marL="400050" lvl="1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 Works perfectly with Airflow orchestration</a:t>
            </a:r>
            <a:endParaRPr lang="en-US" sz="2000" dirty="0">
              <a:solidFill>
                <a:schemeClr val="bg1"/>
              </a:solidFill>
            </a:endParaRPr>
          </a:p>
          <a:p>
            <a:pPr marL="400050" lvl="1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 Eliminates manual data copying completely</a:t>
            </a:r>
            <a:endParaRPr lang="en-US" sz="20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 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en-US" sz="2800" dirty="0" err="1">
                <a:solidFill>
                  <a:schemeClr val="bg1"/>
                </a:solidFill>
              </a:rPr>
              <a:t>NiFi</a:t>
            </a:r>
            <a:r>
              <a:rPr lang="en-US" sz="2800" dirty="0">
                <a:solidFill>
                  <a:schemeClr val="bg1"/>
                </a:solidFill>
              </a:rPr>
              <a:t> gave us a robust, production-style ingestion layer without writing custom scripts.</a:t>
            </a:r>
            <a:endParaRPr lang="en-US" sz="2400" dirty="0">
              <a:solidFill>
                <a:schemeClr val="bg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2259894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">
          <a:extLst>
            <a:ext uri="{FF2B5EF4-FFF2-40B4-BE49-F238E27FC236}">
              <a16:creationId xmlns:a16="http://schemas.microsoft.com/office/drawing/2014/main" id="{0A6A6C3F-6499-DCC1-D3E1-73077A485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">
            <a:extLst>
              <a:ext uri="{FF2B5EF4-FFF2-40B4-BE49-F238E27FC236}">
                <a16:creationId xmlns:a16="http://schemas.microsoft.com/office/drawing/2014/main" id="{4718BC76-FE97-4412-A93F-FF986F73DD04}"/>
              </a:ext>
            </a:extLst>
          </p:cNvPr>
          <p:cNvSpPr/>
          <p:nvPr/>
        </p:nvSpPr>
        <p:spPr>
          <a:xfrm>
            <a:off x="1905000" y="1028700"/>
            <a:ext cx="1524000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6000" dirty="0">
                <a:solidFill>
                  <a:schemeClr val="bg1"/>
                </a:solidFill>
              </a:rPr>
              <a:t>Why HDFS for Storage? </a:t>
            </a:r>
            <a:endParaRPr lang="en-US" sz="19900" dirty="0">
              <a:solidFill>
                <a:schemeClr val="bg1"/>
              </a:solidFill>
            </a:endParaRPr>
          </a:p>
        </p:txBody>
      </p:sp>
      <p:cxnSp>
        <p:nvCxnSpPr>
          <p:cNvPr id="41" name="Google Shape;41;p2">
            <a:extLst>
              <a:ext uri="{FF2B5EF4-FFF2-40B4-BE49-F238E27FC236}">
                <a16:creationId xmlns:a16="http://schemas.microsoft.com/office/drawing/2014/main" id="{21A9C546-5619-2AD6-E0A1-47605081637A}"/>
              </a:ext>
            </a:extLst>
          </p:cNvPr>
          <p:cNvCxnSpPr/>
          <p:nvPr/>
        </p:nvCxnSpPr>
        <p:spPr>
          <a:xfrm flipH="1">
            <a:off x="1371600" y="2985075"/>
            <a:ext cx="15750" cy="431685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A2F49CE-30CA-BF33-3111-0287C6FB6F84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 bwMode="auto">
          <a:xfrm>
            <a:off x="1905000" y="2210217"/>
            <a:ext cx="10964284" cy="70480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Business Need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Stores need to keep: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  * Raw data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      * Historical weather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      * Years of retail transactions</a:t>
            </a:r>
          </a:p>
          <a:p>
            <a:r>
              <a:rPr lang="en-US" sz="2800" dirty="0">
                <a:solidFill>
                  <a:schemeClr val="bg1"/>
                </a:solidFill>
              </a:rPr>
              <a:t>Data grows every day → storage must be scalable, cheap, fault-tolerant.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Why HDFS Fits Perfectly?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* Distributed storage → handles very large datasets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    * Works seamlessly with Spark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    * Ideal for data lake raw zone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    * Handles heavy datasets like NOAA easily</a:t>
            </a:r>
          </a:p>
          <a:p>
            <a:r>
              <a:rPr lang="en-US" sz="2800" dirty="0">
                <a:solidFill>
                  <a:schemeClr val="bg1"/>
                </a:solidFill>
              </a:rPr>
              <a:t>HDFS gives the retailer a long-term, scalable data lake</a:t>
            </a:r>
            <a:endParaRPr lang="en-US" sz="2400" dirty="0">
              <a:solidFill>
                <a:schemeClr val="bg1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16867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">
          <a:extLst>
            <a:ext uri="{FF2B5EF4-FFF2-40B4-BE49-F238E27FC236}">
              <a16:creationId xmlns:a16="http://schemas.microsoft.com/office/drawing/2014/main" id="{BFA1C346-6406-A0C6-2177-33D5ACF7F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">
            <a:extLst>
              <a:ext uri="{FF2B5EF4-FFF2-40B4-BE49-F238E27FC236}">
                <a16:creationId xmlns:a16="http://schemas.microsoft.com/office/drawing/2014/main" id="{D4C459A2-ED12-41D3-EEA1-4347882A067F}"/>
              </a:ext>
            </a:extLst>
          </p:cNvPr>
          <p:cNvSpPr/>
          <p:nvPr/>
        </p:nvSpPr>
        <p:spPr>
          <a:xfrm>
            <a:off x="1290690" y="467582"/>
            <a:ext cx="113538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6600" dirty="0">
                <a:solidFill>
                  <a:schemeClr val="bg1"/>
                </a:solidFill>
              </a:rPr>
              <a:t>Why Spark for Transformations?</a:t>
            </a:r>
            <a:endParaRPr lang="en-US" sz="23900" dirty="0">
              <a:solidFill>
                <a:schemeClr val="bg1"/>
              </a:solidFill>
            </a:endParaRPr>
          </a:p>
        </p:txBody>
      </p:sp>
      <p:cxnSp>
        <p:nvCxnSpPr>
          <p:cNvPr id="41" name="Google Shape;41;p2">
            <a:extLst>
              <a:ext uri="{FF2B5EF4-FFF2-40B4-BE49-F238E27FC236}">
                <a16:creationId xmlns:a16="http://schemas.microsoft.com/office/drawing/2014/main" id="{ADB5408B-E4DF-DD28-8780-E7D83364D55D}"/>
              </a:ext>
            </a:extLst>
          </p:cNvPr>
          <p:cNvCxnSpPr>
            <a:cxnSpLocks/>
          </p:cNvCxnSpPr>
          <p:nvPr/>
        </p:nvCxnSpPr>
        <p:spPr>
          <a:xfrm>
            <a:off x="990600" y="2857500"/>
            <a:ext cx="0" cy="515505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Rectangle 1">
            <a:extLst>
              <a:ext uri="{FF2B5EF4-FFF2-40B4-BE49-F238E27FC236}">
                <a16:creationId xmlns:a16="http://schemas.microsoft.com/office/drawing/2014/main" id="{C5BD1B77-B692-426C-EFE1-4685D06CFD04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 bwMode="auto">
          <a:xfrm>
            <a:off x="990600" y="2019300"/>
            <a:ext cx="9531840" cy="49305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1" indent="0">
              <a:buNone/>
            </a:pPr>
            <a:r>
              <a:rPr lang="en-US" dirty="0">
                <a:solidFill>
                  <a:schemeClr val="bg1"/>
                </a:solidFill>
              </a:rPr>
              <a:t>Business Need</a:t>
            </a:r>
          </a:p>
          <a:p>
            <a:pPr marL="457200" lvl="1" indent="0">
              <a:buNone/>
            </a:pPr>
            <a:br>
              <a:rPr lang="en-US" sz="2400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 Weather and retail datasets required heavy transformations: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* Cleaning, deduplication</a:t>
            </a:r>
          </a:p>
          <a:p>
            <a:pPr marL="400050" lvl="1" indent="0">
              <a:buNone/>
            </a:pPr>
            <a:r>
              <a:rPr lang="en-US" dirty="0">
                <a:solidFill>
                  <a:schemeClr val="bg1"/>
                </a:solidFill>
              </a:rPr>
              <a:t>    * Pivoting weather elements</a:t>
            </a:r>
          </a:p>
          <a:p>
            <a:pPr marL="400050" lvl="1" indent="0">
              <a:buNone/>
            </a:pPr>
            <a:r>
              <a:rPr lang="en-US" dirty="0">
                <a:solidFill>
                  <a:schemeClr val="bg1"/>
                </a:solidFill>
              </a:rPr>
              <a:t>    * Haversine distance calculations</a:t>
            </a:r>
          </a:p>
          <a:p>
            <a:pPr marL="400050" lvl="1" indent="0">
              <a:buNone/>
            </a:pPr>
            <a:r>
              <a:rPr lang="en-US" dirty="0">
                <a:solidFill>
                  <a:schemeClr val="bg1"/>
                </a:solidFill>
              </a:rPr>
              <a:t>    * Many of join operations</a:t>
            </a:r>
          </a:p>
          <a:p>
            <a:pPr marL="400050" lvl="1" indent="0">
              <a:buNone/>
            </a:pPr>
            <a:r>
              <a:rPr lang="en-US" dirty="0">
                <a:solidFill>
                  <a:schemeClr val="bg1"/>
                </a:solidFill>
              </a:rPr>
              <a:t>    * Building star schema dimensions and facts</a:t>
            </a:r>
          </a:p>
          <a:p>
            <a:r>
              <a:rPr lang="en-US" sz="2800" dirty="0">
                <a:solidFill>
                  <a:schemeClr val="bg1"/>
                </a:solidFill>
              </a:rPr>
              <a:t>Excel or Python Pandas CANNOT handle this scale.</a:t>
            </a:r>
          </a:p>
          <a:p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F3FEBC3-5695-8967-EAD2-E2291D1268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4305300"/>
            <a:ext cx="8587351" cy="3256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chemeClr val="bg1"/>
                </a:solidFill>
              </a:rPr>
              <a:t>Why Spark Was the Best Tool</a:t>
            </a:r>
          </a:p>
          <a:p>
            <a:pPr marL="400050" lvl="1" indent="0">
              <a:buNone/>
            </a:pPr>
            <a:r>
              <a:rPr lang="en-US" dirty="0">
                <a:solidFill>
                  <a:schemeClr val="bg1"/>
                </a:solidFill>
              </a:rPr>
              <a:t>* Distributed processing → handles millions of rows easily</a:t>
            </a:r>
          </a:p>
          <a:p>
            <a:pPr marL="400050" lvl="1" indent="0">
              <a:buNone/>
            </a:pPr>
            <a:r>
              <a:rPr lang="en-US" dirty="0">
                <a:solidFill>
                  <a:schemeClr val="bg1"/>
                </a:solidFill>
              </a:rPr>
              <a:t>* High-speed in-memory computing</a:t>
            </a:r>
          </a:p>
          <a:p>
            <a:pPr marL="400050" lvl="1" indent="0">
              <a:buNone/>
            </a:pPr>
            <a:r>
              <a:rPr lang="en-US" dirty="0">
                <a:solidFill>
                  <a:schemeClr val="bg1"/>
                </a:solidFill>
              </a:rPr>
              <a:t>* Can run on our existing Hadoop/YARN cluster</a:t>
            </a:r>
          </a:p>
          <a:p>
            <a:pPr marL="400050" lvl="1" indent="0">
              <a:buNone/>
            </a:pPr>
            <a:r>
              <a:rPr lang="en-US" dirty="0">
                <a:solidFill>
                  <a:schemeClr val="bg1"/>
                </a:solidFill>
              </a:rPr>
              <a:t>* Integrates with Snowflake connector</a:t>
            </a:r>
          </a:p>
          <a:p>
            <a:pPr marL="400050" lvl="1" indent="0">
              <a:buNone/>
            </a:pPr>
            <a:r>
              <a:rPr lang="en-US" dirty="0">
                <a:solidFill>
                  <a:schemeClr val="bg1"/>
                </a:solidFill>
              </a:rPr>
              <a:t>* Ideal for ETL and feature engineering</a:t>
            </a:r>
          </a:p>
          <a:p>
            <a:r>
              <a:rPr lang="en-US" sz="2800" dirty="0">
                <a:solidFill>
                  <a:schemeClr val="bg1"/>
                </a:solidFill>
              </a:rPr>
              <a:t>Spark made transformations fast, scalable, and reliable.</a:t>
            </a:r>
            <a:endParaRPr lang="en-US" sz="2800" dirty="0">
              <a:solidFill>
                <a:schemeClr val="bg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0236902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">
          <a:extLst>
            <a:ext uri="{FF2B5EF4-FFF2-40B4-BE49-F238E27FC236}">
              <a16:creationId xmlns:a16="http://schemas.microsoft.com/office/drawing/2014/main" id="{20C0057E-7DD1-6723-F006-06C70ADCE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">
            <a:extLst>
              <a:ext uri="{FF2B5EF4-FFF2-40B4-BE49-F238E27FC236}">
                <a16:creationId xmlns:a16="http://schemas.microsoft.com/office/drawing/2014/main" id="{858ACC2A-0C48-2C8F-1592-80C3162776D7}"/>
              </a:ext>
            </a:extLst>
          </p:cNvPr>
          <p:cNvSpPr/>
          <p:nvPr/>
        </p:nvSpPr>
        <p:spPr>
          <a:xfrm>
            <a:off x="685800" y="800100"/>
            <a:ext cx="131064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6600" dirty="0">
                <a:solidFill>
                  <a:schemeClr val="bg1"/>
                </a:solidFill>
              </a:rPr>
              <a:t>Why Snowflake for the Warehouse?</a:t>
            </a:r>
            <a:endParaRPr lang="en-US" sz="23900" dirty="0">
              <a:solidFill>
                <a:schemeClr val="bg1"/>
              </a:solidFill>
            </a:endParaRPr>
          </a:p>
        </p:txBody>
      </p:sp>
      <p:cxnSp>
        <p:nvCxnSpPr>
          <p:cNvPr id="41" name="Google Shape;41;p2">
            <a:extLst>
              <a:ext uri="{FF2B5EF4-FFF2-40B4-BE49-F238E27FC236}">
                <a16:creationId xmlns:a16="http://schemas.microsoft.com/office/drawing/2014/main" id="{EBC411B5-E621-7491-9C40-A288C593D411}"/>
              </a:ext>
            </a:extLst>
          </p:cNvPr>
          <p:cNvCxnSpPr/>
          <p:nvPr/>
        </p:nvCxnSpPr>
        <p:spPr>
          <a:xfrm flipH="1">
            <a:off x="913640" y="2781300"/>
            <a:ext cx="15750" cy="431685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Rectangle 1">
            <a:extLst>
              <a:ext uri="{FF2B5EF4-FFF2-40B4-BE49-F238E27FC236}">
                <a16:creationId xmlns:a16="http://schemas.microsoft.com/office/drawing/2014/main" id="{BD4497CB-1604-1978-3AA8-4B02CF5932DD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 bwMode="auto">
          <a:xfrm>
            <a:off x="1295400" y="2476500"/>
            <a:ext cx="6505950" cy="35763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Business Need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The business users need:</a:t>
            </a:r>
          </a:p>
          <a:p>
            <a:pPr marL="400050" lvl="1" indent="0">
              <a:buNone/>
            </a:pPr>
            <a:r>
              <a:rPr lang="en-US" dirty="0">
                <a:solidFill>
                  <a:schemeClr val="bg1"/>
                </a:solidFill>
              </a:rPr>
              <a:t>* Fast analytical queries</a:t>
            </a:r>
          </a:p>
          <a:p>
            <a:pPr marL="400050" lvl="1" indent="0">
              <a:buNone/>
            </a:pPr>
            <a:r>
              <a:rPr lang="en-US" dirty="0">
                <a:solidFill>
                  <a:schemeClr val="bg1"/>
                </a:solidFill>
              </a:rPr>
              <a:t>* Clean, structured data</a:t>
            </a:r>
          </a:p>
          <a:p>
            <a:pPr marL="400050" lvl="1" indent="0">
              <a:buNone/>
            </a:pPr>
            <a:r>
              <a:rPr lang="en-US" dirty="0">
                <a:solidFill>
                  <a:schemeClr val="bg1"/>
                </a:solidFill>
              </a:rPr>
              <a:t>* A single source of truth</a:t>
            </a:r>
          </a:p>
          <a:p>
            <a:pPr marL="400050" lvl="1" indent="0">
              <a:buNone/>
            </a:pPr>
            <a:r>
              <a:rPr lang="en-US" dirty="0">
                <a:solidFill>
                  <a:schemeClr val="bg1"/>
                </a:solidFill>
              </a:rPr>
              <a:t>* Ability to run dashboards and BI tools</a:t>
            </a:r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CC963AB-6503-408E-18B8-2204D07DCF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6560" y="3428172"/>
            <a:ext cx="8957940" cy="44873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chemeClr val="bg1"/>
                </a:solidFill>
              </a:rPr>
              <a:t>Why Snowflake Was the Right Choice?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   *Zero-maintenance cloud warehouse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       * Auto-scaling compute → handles large queries quickly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       * Separation of storage &amp; compute (cost-efficient)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       * Perfect for star schema dimensional models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       * Strong integration with Spark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       * High performance for BI dashboards</a:t>
            </a:r>
          </a:p>
          <a:p>
            <a:r>
              <a:rPr lang="en-US" sz="2800" dirty="0">
                <a:solidFill>
                  <a:schemeClr val="bg1"/>
                </a:solidFill>
              </a:rPr>
              <a:t>Snowflake transforms big data into business-friendly analytics</a:t>
            </a:r>
          </a:p>
        </p:txBody>
      </p:sp>
    </p:spTree>
    <p:extLst>
      <p:ext uri="{BB962C8B-B14F-4D97-AF65-F5344CB8AC3E}">
        <p14:creationId xmlns:p14="http://schemas.microsoft.com/office/powerpoint/2010/main" val="4514399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">
          <a:extLst>
            <a:ext uri="{FF2B5EF4-FFF2-40B4-BE49-F238E27FC236}">
              <a16:creationId xmlns:a16="http://schemas.microsoft.com/office/drawing/2014/main" id="{7B31B4E3-DA49-23DC-F895-60BEF5BF2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">
            <a:extLst>
              <a:ext uri="{FF2B5EF4-FFF2-40B4-BE49-F238E27FC236}">
                <a16:creationId xmlns:a16="http://schemas.microsoft.com/office/drawing/2014/main" id="{BBD7D82A-A94B-97EE-4787-FFA2C577E671}"/>
              </a:ext>
            </a:extLst>
          </p:cNvPr>
          <p:cNvSpPr/>
          <p:nvPr/>
        </p:nvSpPr>
        <p:spPr>
          <a:xfrm>
            <a:off x="2209800" y="495300"/>
            <a:ext cx="80010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</a:rPr>
              <a:t>Star Schema</a:t>
            </a:r>
          </a:p>
        </p:txBody>
      </p:sp>
      <p:cxnSp>
        <p:nvCxnSpPr>
          <p:cNvPr id="41" name="Google Shape;41;p2">
            <a:extLst>
              <a:ext uri="{FF2B5EF4-FFF2-40B4-BE49-F238E27FC236}">
                <a16:creationId xmlns:a16="http://schemas.microsoft.com/office/drawing/2014/main" id="{5B55459B-1C39-776A-3F67-647A02EAE82B}"/>
              </a:ext>
            </a:extLst>
          </p:cNvPr>
          <p:cNvCxnSpPr>
            <a:cxnSpLocks/>
          </p:cNvCxnSpPr>
          <p:nvPr/>
        </p:nvCxnSpPr>
        <p:spPr>
          <a:xfrm>
            <a:off x="1828800" y="2565975"/>
            <a:ext cx="0" cy="515505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13B46A6-0962-E6F1-6F83-80A51A92C6A9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971800" y="1638300"/>
            <a:ext cx="11077573" cy="73850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584571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">
          <a:extLst>
            <a:ext uri="{FF2B5EF4-FFF2-40B4-BE49-F238E27FC236}">
              <a16:creationId xmlns:a16="http://schemas.microsoft.com/office/drawing/2014/main" id="{D027C17B-DE09-72F5-36F1-1E3A26736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">
            <a:extLst>
              <a:ext uri="{FF2B5EF4-FFF2-40B4-BE49-F238E27FC236}">
                <a16:creationId xmlns:a16="http://schemas.microsoft.com/office/drawing/2014/main" id="{AE74FDE1-0D72-34D9-D923-2ED397E5373D}"/>
              </a:ext>
            </a:extLst>
          </p:cNvPr>
          <p:cNvSpPr/>
          <p:nvPr/>
        </p:nvSpPr>
        <p:spPr>
          <a:xfrm>
            <a:off x="1295400" y="1333500"/>
            <a:ext cx="80010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6600" dirty="0">
                <a:solidFill>
                  <a:schemeClr val="bg1"/>
                </a:solidFill>
              </a:rPr>
              <a:t>Key Tasks Achieved</a:t>
            </a:r>
            <a:endParaRPr lang="en-US" sz="23900" b="1" dirty="0">
              <a:solidFill>
                <a:schemeClr val="bg1"/>
              </a:solidFill>
            </a:endParaRPr>
          </a:p>
        </p:txBody>
      </p:sp>
      <p:cxnSp>
        <p:nvCxnSpPr>
          <p:cNvPr id="41" name="Google Shape;41;p2">
            <a:extLst>
              <a:ext uri="{FF2B5EF4-FFF2-40B4-BE49-F238E27FC236}">
                <a16:creationId xmlns:a16="http://schemas.microsoft.com/office/drawing/2014/main" id="{215D029F-28CC-E6B6-DA20-A69C39F46ABA}"/>
              </a:ext>
            </a:extLst>
          </p:cNvPr>
          <p:cNvCxnSpPr>
            <a:cxnSpLocks/>
          </p:cNvCxnSpPr>
          <p:nvPr/>
        </p:nvCxnSpPr>
        <p:spPr>
          <a:xfrm>
            <a:off x="1447800" y="2781300"/>
            <a:ext cx="0" cy="5334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Rectangle 1">
            <a:extLst>
              <a:ext uri="{FF2B5EF4-FFF2-40B4-BE49-F238E27FC236}">
                <a16:creationId xmlns:a16="http://schemas.microsoft.com/office/drawing/2014/main" id="{7F97B834-9786-CB17-98F6-E2BF9475B2FF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 bwMode="auto">
          <a:xfrm>
            <a:off x="1828800" y="2899432"/>
            <a:ext cx="14402560" cy="47212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1. Set up full big-data environment in Docker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2. Used </a:t>
            </a:r>
            <a:r>
              <a:rPr lang="en-US" dirty="0" err="1">
                <a:solidFill>
                  <a:schemeClr val="bg1"/>
                </a:solidFill>
              </a:rPr>
              <a:t>NiFi</a:t>
            </a:r>
            <a:r>
              <a:rPr lang="en-US" dirty="0">
                <a:solidFill>
                  <a:schemeClr val="bg1"/>
                </a:solidFill>
              </a:rPr>
              <a:t> to ingest all datasets into HDFS raw zone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3. Cleaned &amp; transformed retail and weather data with Spark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4. Mapped NOAA weather stations → cities using Haversine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5. Built Date, Product, Supermarket, and Station dimensions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6. Built </a:t>
            </a:r>
            <a:r>
              <a:rPr lang="en-US" dirty="0" err="1">
                <a:solidFill>
                  <a:schemeClr val="bg1"/>
                </a:solidFill>
              </a:rPr>
              <a:t>Fact_Sales</a:t>
            </a:r>
            <a:r>
              <a:rPr lang="en-US" dirty="0">
                <a:solidFill>
                  <a:schemeClr val="bg1"/>
                </a:solidFill>
              </a:rPr>
              <a:t> containing weather-enriched transactions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7. Loaded star schema into Snowflake using Spark connector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8. Created a comprehensive retail + weather dashboard</a:t>
            </a:r>
          </a:p>
        </p:txBody>
      </p:sp>
    </p:spTree>
    <p:extLst>
      <p:ext uri="{BB962C8B-B14F-4D97-AF65-F5344CB8AC3E}">
        <p14:creationId xmlns:p14="http://schemas.microsoft.com/office/powerpoint/2010/main" val="27190943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">
          <a:extLst>
            <a:ext uri="{FF2B5EF4-FFF2-40B4-BE49-F238E27FC236}">
              <a16:creationId xmlns:a16="http://schemas.microsoft.com/office/drawing/2014/main" id="{6A2F48CB-F55A-DB2C-71F5-651AF5A85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">
            <a:extLst>
              <a:ext uri="{FF2B5EF4-FFF2-40B4-BE49-F238E27FC236}">
                <a16:creationId xmlns:a16="http://schemas.microsoft.com/office/drawing/2014/main" id="{4E188411-9C04-7D43-E053-9F99332EB995}"/>
              </a:ext>
            </a:extLst>
          </p:cNvPr>
          <p:cNvSpPr/>
          <p:nvPr/>
        </p:nvSpPr>
        <p:spPr>
          <a:xfrm>
            <a:off x="1676400" y="723900"/>
            <a:ext cx="1088085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6000" dirty="0">
                <a:solidFill>
                  <a:schemeClr val="bg1"/>
                </a:solidFill>
              </a:rPr>
              <a:t>Results &amp; Insights (Business Value)</a:t>
            </a:r>
            <a:endParaRPr lang="en-US" sz="23900" dirty="0">
              <a:solidFill>
                <a:schemeClr val="bg1"/>
              </a:solidFill>
            </a:endParaRPr>
          </a:p>
        </p:txBody>
      </p:sp>
      <p:cxnSp>
        <p:nvCxnSpPr>
          <p:cNvPr id="41" name="Google Shape;41;p2">
            <a:extLst>
              <a:ext uri="{FF2B5EF4-FFF2-40B4-BE49-F238E27FC236}">
                <a16:creationId xmlns:a16="http://schemas.microsoft.com/office/drawing/2014/main" id="{AE56A900-1CC0-E693-7C10-BBEA036A33FD}"/>
              </a:ext>
            </a:extLst>
          </p:cNvPr>
          <p:cNvCxnSpPr/>
          <p:nvPr/>
        </p:nvCxnSpPr>
        <p:spPr>
          <a:xfrm flipH="1">
            <a:off x="1660650" y="2985075"/>
            <a:ext cx="15750" cy="431685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Rectangle 1">
            <a:extLst>
              <a:ext uri="{FF2B5EF4-FFF2-40B4-BE49-F238E27FC236}">
                <a16:creationId xmlns:a16="http://schemas.microsoft.com/office/drawing/2014/main" id="{EE13CA01-17F9-42FE-34CF-F7A15E587FBB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 bwMode="auto">
          <a:xfrm>
            <a:off x="3048000" y="5129093"/>
            <a:ext cx="1432636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15670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">
          <a:extLst>
            <a:ext uri="{FF2B5EF4-FFF2-40B4-BE49-F238E27FC236}">
              <a16:creationId xmlns:a16="http://schemas.microsoft.com/office/drawing/2014/main" id="{60DABBBD-FBBF-778A-3A7D-C438FF996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">
            <a:extLst>
              <a:ext uri="{FF2B5EF4-FFF2-40B4-BE49-F238E27FC236}">
                <a16:creationId xmlns:a16="http://schemas.microsoft.com/office/drawing/2014/main" id="{61562B2A-067A-7E77-7319-9C0082EE8D61}"/>
              </a:ext>
            </a:extLst>
          </p:cNvPr>
          <p:cNvSpPr/>
          <p:nvPr/>
        </p:nvSpPr>
        <p:spPr>
          <a:xfrm>
            <a:off x="2895600" y="1613237"/>
            <a:ext cx="105129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6600" i="1" dirty="0">
                <a:solidFill>
                  <a:schemeClr val="bg1"/>
                </a:solidFill>
              </a:rPr>
              <a:t>Conclusion</a:t>
            </a:r>
            <a:endParaRPr lang="en-US" sz="2700" dirty="0">
              <a:solidFill>
                <a:schemeClr val="bg1"/>
              </a:solidFill>
            </a:endParaRPr>
          </a:p>
        </p:txBody>
      </p:sp>
      <p:cxnSp>
        <p:nvCxnSpPr>
          <p:cNvPr id="41" name="Google Shape;41;p2">
            <a:extLst>
              <a:ext uri="{FF2B5EF4-FFF2-40B4-BE49-F238E27FC236}">
                <a16:creationId xmlns:a16="http://schemas.microsoft.com/office/drawing/2014/main" id="{A127DCAD-3A3A-B372-5461-CBF5A0CF3A85}"/>
              </a:ext>
            </a:extLst>
          </p:cNvPr>
          <p:cNvCxnSpPr/>
          <p:nvPr/>
        </p:nvCxnSpPr>
        <p:spPr>
          <a:xfrm flipH="1">
            <a:off x="1295400" y="2985075"/>
            <a:ext cx="15750" cy="431685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Rectangle 3">
            <a:extLst>
              <a:ext uri="{FF2B5EF4-FFF2-40B4-BE49-F238E27FC236}">
                <a16:creationId xmlns:a16="http://schemas.microsoft.com/office/drawing/2014/main" id="{AD914DB9-04F6-6F0F-0F53-7FE78F278FC1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 bwMode="auto">
          <a:xfrm>
            <a:off x="1524000" y="2827472"/>
            <a:ext cx="14995650" cy="5521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We built a complete end-to-end big data analytics system that:</a:t>
            </a:r>
          </a:p>
          <a:p>
            <a:pPr marL="0" indent="0">
              <a:buNone/>
            </a:pPr>
            <a:endParaRPr lang="en-US" sz="2800" dirty="0">
              <a:solidFill>
                <a:schemeClr val="bg1"/>
              </a:solidFill>
            </a:endParaRPr>
          </a:p>
          <a:p>
            <a:pPr marL="400050" lvl="1" indent="0">
              <a:buNone/>
            </a:pPr>
            <a:r>
              <a:rPr lang="en-US" dirty="0">
                <a:solidFill>
                  <a:schemeClr val="bg1"/>
                </a:solidFill>
              </a:rPr>
              <a:t>* Integrates multi-source datasets (weather + retail)</a:t>
            </a:r>
          </a:p>
          <a:p>
            <a:pPr marL="400050" lvl="1" indent="0">
              <a:buNone/>
            </a:pPr>
            <a:r>
              <a:rPr lang="en-US" dirty="0">
                <a:solidFill>
                  <a:schemeClr val="bg1"/>
                </a:solidFill>
              </a:rPr>
              <a:t>* Executes a professional ETL pipeline (</a:t>
            </a:r>
            <a:r>
              <a:rPr lang="en-US" dirty="0" err="1">
                <a:solidFill>
                  <a:schemeClr val="bg1"/>
                </a:solidFill>
              </a:rPr>
              <a:t>NiFi</a:t>
            </a:r>
            <a:r>
              <a:rPr lang="en-US" dirty="0">
                <a:solidFill>
                  <a:schemeClr val="bg1"/>
                </a:solidFill>
              </a:rPr>
              <a:t> + Spark + HDFS)</a:t>
            </a:r>
          </a:p>
          <a:p>
            <a:pPr marL="400050" lvl="1" indent="0">
              <a:buNone/>
            </a:pPr>
            <a:r>
              <a:rPr lang="en-US" dirty="0">
                <a:solidFill>
                  <a:schemeClr val="bg1"/>
                </a:solidFill>
              </a:rPr>
              <a:t>* Stores analytics-ready data in Snowflake</a:t>
            </a:r>
          </a:p>
          <a:p>
            <a:pPr marL="400050" lvl="1" indent="0">
              <a:buNone/>
            </a:pPr>
            <a:r>
              <a:rPr lang="en-US" dirty="0">
                <a:solidFill>
                  <a:schemeClr val="bg1"/>
                </a:solidFill>
              </a:rPr>
              <a:t>* Delivers data-driven insights via an interactive dashboard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Outcome: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       The system empowers retailers to make smarter, faster, weather-informed decisions that reduce           costs and increase profit.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57916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1263</TotalTime>
  <Words>1044</Words>
  <Application>Microsoft Office PowerPoint</Application>
  <PresentationFormat>Custom</PresentationFormat>
  <Paragraphs>196</Paragraphs>
  <Slides>20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Calibri</vt:lpstr>
      <vt:lpstr>Arial</vt:lpstr>
      <vt:lpstr>Aptos</vt:lpstr>
      <vt:lpstr>Malgun Gothic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Meet Our Team</dc:title>
  <dc:creator>farah walid</dc:creator>
  <cp:lastModifiedBy>Ahmed Ibraheem Ahmed Ali Badawy</cp:lastModifiedBy>
  <cp:revision>10</cp:revision>
  <dcterms:created xsi:type="dcterms:W3CDTF">2006-08-16T00:00:00Z</dcterms:created>
  <dcterms:modified xsi:type="dcterms:W3CDTF">2025-11-28T09:12:55Z</dcterms:modified>
  <dc:identifier>DAGQ85K8Zw8</dc:identifier>
</cp:coreProperties>
</file>